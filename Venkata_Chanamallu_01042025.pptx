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9"/>
  </p:notesMasterIdLst>
  <p:sldIdLst>
    <p:sldId id="268" r:id="rId5"/>
    <p:sldId id="269" r:id="rId6"/>
    <p:sldId id="270" r:id="rId7"/>
    <p:sldId id="271" r:id="rId8"/>
    <p:sldId id="272" r:id="rId9"/>
    <p:sldId id="273" r:id="rId10"/>
    <p:sldId id="275" r:id="rId11"/>
    <p:sldId id="276" r:id="rId12"/>
    <p:sldId id="277" r:id="rId13"/>
    <p:sldId id="278" r:id="rId14"/>
    <p:sldId id="279" r:id="rId15"/>
    <p:sldId id="280" r:id="rId16"/>
    <p:sldId id="281" r:id="rId17"/>
    <p:sldId id="292" r:id="rId18"/>
    <p:sldId id="293" r:id="rId19"/>
    <p:sldId id="282" r:id="rId20"/>
    <p:sldId id="283" r:id="rId21"/>
    <p:sldId id="284" r:id="rId22"/>
    <p:sldId id="285" r:id="rId23"/>
    <p:sldId id="286" r:id="rId24"/>
    <p:sldId id="287" r:id="rId25"/>
    <p:sldId id="288" r:id="rId26"/>
    <p:sldId id="289" r:id="rId27"/>
    <p:sldId id="291"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0" autoAdjust="0"/>
    <p:restoredTop sz="94619" autoAdjust="0"/>
  </p:normalViewPr>
  <p:slideViewPr>
    <p:cSldViewPr snapToGrid="0">
      <p:cViewPr varScale="1">
        <p:scale>
          <a:sx n="81" d="100"/>
          <a:sy n="81" d="100"/>
        </p:scale>
        <p:origin x="64" y="16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6855A9-51F4-4E18-AD57-F7F31F95BAC4}" type="datetimeFigureOut">
              <a:rPr lang="en-IN" smtClean="0"/>
              <a:t>05-01-2025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1692BB-4B40-4243-A748-9DF64911CC38}" type="slidenum">
              <a:rPr lang="en-IN" smtClean="0"/>
              <a:t>‹#›</a:t>
            </a:fld>
            <a:endParaRPr lang="en-IN"/>
          </a:p>
        </p:txBody>
      </p:sp>
    </p:spTree>
    <p:extLst>
      <p:ext uri="{BB962C8B-B14F-4D97-AF65-F5344CB8AC3E}">
        <p14:creationId xmlns:p14="http://schemas.microsoft.com/office/powerpoint/2010/main" val="1097670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1/5/2025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7225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1/5/2025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52010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1/5/2025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70401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1/5/2025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52231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1/5/2025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16775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1/5/2025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42260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1/5/2025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40723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1/5/2025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411850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1/5/2025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84398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1/5/2025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90708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F0502020204030204"/>
              <a:ea typeface="+mn-ea"/>
              <a:cs typeface="+mn-cs"/>
            </a:endParaRPr>
          </a:p>
        </p:txBody>
      </p:sp>
      <p:sp>
        <p:nvSpPr>
          <p:cNvPr id="2" name="Title 1">
            <a:extLst>
              <a:ext uri="{FF2B5EF4-FFF2-40B4-BE49-F238E27FC236}">
                <a16:creationId xmlns:a16="http://schemas.microsoft.com/office/drawing/2014/main" id="{4010AF38-26DF-48B3-952C-4A9091D6863C}"/>
              </a:ext>
            </a:extLst>
          </p:cNvPr>
          <p:cNvSpPr>
            <a:spLocks noGrp="1"/>
          </p:cNvSpPr>
          <p:nvPr>
            <p:ph type="ctrTitle"/>
          </p:nvPr>
        </p:nvSpPr>
        <p:spPr>
          <a:xfrm>
            <a:off x="648929" y="639097"/>
            <a:ext cx="6253317" cy="3686015"/>
          </a:xfrm>
        </p:spPr>
        <p:txBody>
          <a:bodyPr>
            <a:normAutofit/>
          </a:bodyPr>
          <a:lstStyle/>
          <a:p>
            <a:r>
              <a:rPr lang="en-IN" b="0" i="0" dirty="0">
                <a:solidFill>
                  <a:srgbClr val="1F1F1F"/>
                </a:solidFill>
                <a:effectLst/>
                <a:latin typeface="Google Sans"/>
              </a:rPr>
              <a:t>Take Home Assignment-CATT Lab</a:t>
            </a:r>
            <a:endParaRPr lang="en-US" sz="8000" dirty="0"/>
          </a:p>
        </p:txBody>
      </p:sp>
      <p:sp>
        <p:nvSpPr>
          <p:cNvPr id="3" name="Subtitle 2">
            <a:extLst>
              <a:ext uri="{FF2B5EF4-FFF2-40B4-BE49-F238E27FC236}">
                <a16:creationId xmlns:a16="http://schemas.microsoft.com/office/drawing/2014/main" id="{37FC2D8F-56D2-4ADF-B439-0E09E7C37894}"/>
              </a:ext>
            </a:extLst>
          </p:cNvPr>
          <p:cNvSpPr>
            <a:spLocks noGrp="1"/>
          </p:cNvSpPr>
          <p:nvPr>
            <p:ph type="subTitle" idx="1"/>
          </p:nvPr>
        </p:nvSpPr>
        <p:spPr>
          <a:xfrm>
            <a:off x="632899" y="4672739"/>
            <a:ext cx="6269347" cy="1021498"/>
          </a:xfrm>
        </p:spPr>
        <p:txBody>
          <a:bodyPr>
            <a:normAutofit/>
          </a:bodyPr>
          <a:lstStyle/>
          <a:p>
            <a:r>
              <a:rPr lang="en-US" sz="2400" dirty="0">
                <a:solidFill>
                  <a:schemeClr val="tx1">
                    <a:lumMod val="85000"/>
                    <a:lumOff val="15000"/>
                  </a:schemeClr>
                </a:solidFill>
              </a:rPr>
              <a:t>Ch Vinay</a:t>
            </a:r>
          </a:p>
        </p:txBody>
      </p:sp>
      <p:cxnSp>
        <p:nvCxnSpPr>
          <p:cNvPr id="29" name="Straight Connector 28">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44179"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308AC96E-AA33-4309-B51D-072F59E6EC0B}"/>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7556686" y="1"/>
            <a:ext cx="4635315" cy="6857999"/>
          </a:xfrm>
          <a:prstGeom prst="rect">
            <a:avLst/>
          </a:prstGeom>
        </p:spPr>
      </p:pic>
    </p:spTree>
    <p:extLst>
      <p:ext uri="{BB962C8B-B14F-4D97-AF65-F5344CB8AC3E}">
        <p14:creationId xmlns:p14="http://schemas.microsoft.com/office/powerpoint/2010/main" val="3912747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0EF2C-C0D1-DCF3-64CF-FC0AB9B1BA93}"/>
              </a:ext>
            </a:extLst>
          </p:cNvPr>
          <p:cNvSpPr>
            <a:spLocks noGrp="1"/>
          </p:cNvSpPr>
          <p:nvPr>
            <p:ph type="title"/>
          </p:nvPr>
        </p:nvSpPr>
        <p:spPr/>
        <p:txBody>
          <a:bodyPr/>
          <a:lstStyle/>
          <a:p>
            <a:r>
              <a:rPr lang="en-IN" dirty="0"/>
              <a:t>Distribution of crash duration </a:t>
            </a:r>
          </a:p>
        </p:txBody>
      </p:sp>
      <p:pic>
        <p:nvPicPr>
          <p:cNvPr id="5" name="Picture 4">
            <a:extLst>
              <a:ext uri="{FF2B5EF4-FFF2-40B4-BE49-F238E27FC236}">
                <a16:creationId xmlns:a16="http://schemas.microsoft.com/office/drawing/2014/main" id="{413EF4A4-732D-52FB-6646-CDF3D651BDFF}"/>
              </a:ext>
            </a:extLst>
          </p:cNvPr>
          <p:cNvPicPr>
            <a:picLocks noChangeAspect="1"/>
          </p:cNvPicPr>
          <p:nvPr/>
        </p:nvPicPr>
        <p:blipFill>
          <a:blip r:embed="rId2"/>
          <a:stretch>
            <a:fillRect/>
          </a:stretch>
        </p:blipFill>
        <p:spPr>
          <a:xfrm>
            <a:off x="4727553" y="2285999"/>
            <a:ext cx="6367167" cy="3255267"/>
          </a:xfrm>
          <a:prstGeom prst="rect">
            <a:avLst/>
          </a:prstGeom>
        </p:spPr>
      </p:pic>
      <p:sp>
        <p:nvSpPr>
          <p:cNvPr id="6" name="Rectangle 1">
            <a:extLst>
              <a:ext uri="{FF2B5EF4-FFF2-40B4-BE49-F238E27FC236}">
                <a16:creationId xmlns:a16="http://schemas.microsoft.com/office/drawing/2014/main" id="{95FD53B3-9ED8-1CC0-9C0A-EE3DD76979F3}"/>
              </a:ext>
            </a:extLst>
          </p:cNvPr>
          <p:cNvSpPr>
            <a:spLocks noGrp="1" noChangeArrowheads="1"/>
          </p:cNvSpPr>
          <p:nvPr>
            <p:ph idx="1"/>
          </p:nvPr>
        </p:nvSpPr>
        <p:spPr bwMode="auto">
          <a:xfrm>
            <a:off x="675049" y="2232668"/>
            <a:ext cx="4123449" cy="3308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SzTx/>
              <a:buFontTx/>
              <a:buChar char="•"/>
              <a:tabLst/>
            </a:pPr>
            <a:r>
              <a:rPr lang="en-US" altLang="en-US" sz="1100" dirty="0">
                <a:solidFill>
                  <a:schemeClr val="tx1"/>
                </a:solidFill>
                <a:latin typeface="Arial" panose="020B0604020202020204" pitchFamily="34" charset="0"/>
              </a:rPr>
              <a:t>C</a:t>
            </a:r>
            <a:r>
              <a:rPr kumimoji="0" lang="en-US" altLang="en-US" sz="1100" i="0" u="none" strike="noStrike" cap="none" normalizeH="0" baseline="0" dirty="0">
                <a:ln>
                  <a:noFill/>
                </a:ln>
                <a:solidFill>
                  <a:schemeClr val="tx1"/>
                </a:solidFill>
                <a:effectLst/>
                <a:latin typeface="Arial" panose="020B0604020202020204" pitchFamily="34" charset="0"/>
              </a:rPr>
              <a:t>alculated the crash duration in minutes and hours by subtracting the start time from the end time for each crash event.</a:t>
            </a:r>
          </a:p>
          <a:p>
            <a:pPr marL="0" marR="0" lvl="0" indent="0" algn="l" defTabSz="914400" rtl="0" eaLnBrk="0" fontAlgn="base" latinLnBrk="0" hangingPunct="0">
              <a:lnSpc>
                <a:spcPct val="100000"/>
              </a:lnSpc>
              <a:spcBef>
                <a:spcPct val="0"/>
              </a:spcBef>
              <a:spcAft>
                <a:spcPct val="0"/>
              </a:spcAft>
              <a:buSzTx/>
              <a:buFontTx/>
              <a:buChar char="•"/>
              <a:tabLst/>
            </a:pPr>
            <a:endParaRPr kumimoji="0" lang="en-US" altLang="en-US" sz="11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SzTx/>
              <a:buFontTx/>
              <a:buChar char="•"/>
              <a:tabLst/>
            </a:pPr>
            <a:r>
              <a:rPr kumimoji="0" lang="en-US" altLang="en-US" sz="1100" i="0" u="none" strike="noStrike" cap="none" normalizeH="0" baseline="0" dirty="0">
                <a:ln>
                  <a:noFill/>
                </a:ln>
                <a:solidFill>
                  <a:schemeClr val="tx1"/>
                </a:solidFill>
                <a:effectLst/>
                <a:latin typeface="Arial" panose="020B0604020202020204" pitchFamily="34" charset="0"/>
              </a:rPr>
              <a:t>A boxplot revealed the presence of outliers, indicating some crashes lasted significantly longer than others.</a:t>
            </a:r>
          </a:p>
          <a:p>
            <a:pPr marL="0" marR="0" lvl="0" indent="0" algn="l" defTabSz="914400" rtl="0" eaLnBrk="0" fontAlgn="base" latinLnBrk="0" hangingPunct="0">
              <a:lnSpc>
                <a:spcPct val="100000"/>
              </a:lnSpc>
              <a:spcBef>
                <a:spcPct val="0"/>
              </a:spcBef>
              <a:spcAft>
                <a:spcPct val="0"/>
              </a:spcAft>
              <a:buSzTx/>
              <a:buFontTx/>
              <a:buChar char="•"/>
              <a:tabLst/>
            </a:pPr>
            <a:endParaRPr kumimoji="0" lang="en-US" altLang="en-US" sz="11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SzTx/>
              <a:buFontTx/>
              <a:buChar char="•"/>
              <a:tabLst/>
            </a:pPr>
            <a:r>
              <a:rPr kumimoji="0" lang="en-US" altLang="en-US" sz="1100" i="0" u="none" strike="noStrike" cap="none" normalizeH="0" baseline="0" dirty="0">
                <a:ln>
                  <a:noFill/>
                </a:ln>
                <a:solidFill>
                  <a:schemeClr val="tx1"/>
                </a:solidFill>
                <a:effectLst/>
                <a:latin typeface="Arial" panose="020B0604020202020204" pitchFamily="34" charset="0"/>
              </a:rPr>
              <a:t>After removing outliers (beyond the 99th percentile), we plotted the filtered crash duration distribution in both minutes and hours.</a:t>
            </a:r>
          </a:p>
          <a:p>
            <a:pPr marL="0" marR="0" lvl="0" indent="0" algn="l" defTabSz="914400" rtl="0" eaLnBrk="0" fontAlgn="base" latinLnBrk="0" hangingPunct="0">
              <a:lnSpc>
                <a:spcPct val="100000"/>
              </a:lnSpc>
              <a:spcBef>
                <a:spcPct val="0"/>
              </a:spcBef>
              <a:spcAft>
                <a:spcPct val="0"/>
              </a:spcAft>
              <a:buSzTx/>
              <a:buFontTx/>
              <a:buChar char="•"/>
              <a:tabLst/>
            </a:pPr>
            <a:endParaRPr kumimoji="0" lang="en-US" altLang="en-US" sz="11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SzTx/>
              <a:buFontTx/>
              <a:buChar char="•"/>
              <a:tabLst/>
            </a:pPr>
            <a:r>
              <a:rPr kumimoji="0" lang="en-US" altLang="en-US" sz="1100" i="0" u="none" strike="noStrike" cap="none" normalizeH="0" baseline="0" dirty="0">
                <a:ln>
                  <a:noFill/>
                </a:ln>
                <a:solidFill>
                  <a:schemeClr val="tx1"/>
                </a:solidFill>
                <a:effectLst/>
                <a:latin typeface="Arial" panose="020B0604020202020204" pitchFamily="34" charset="0"/>
              </a:rPr>
              <a:t>The histograms show a positively skewed distribution, indicating that most crashes are short-duration (under 50 minutes), with a small number of long-duration crashes.</a:t>
            </a:r>
          </a:p>
          <a:p>
            <a:pPr marL="0" marR="0" lvl="0" indent="0" algn="l" defTabSz="914400" rtl="0" eaLnBrk="0" fontAlgn="base" latinLnBrk="0" hangingPunct="0">
              <a:lnSpc>
                <a:spcPct val="100000"/>
              </a:lnSpc>
              <a:spcBef>
                <a:spcPct val="0"/>
              </a:spcBef>
              <a:spcAft>
                <a:spcPct val="0"/>
              </a:spcAft>
              <a:buSzTx/>
              <a:buFontTx/>
              <a:buChar char="•"/>
              <a:tabLst/>
            </a:pPr>
            <a:endParaRPr kumimoji="0" lang="en-US" altLang="en-US" sz="11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SzTx/>
              <a:buFontTx/>
              <a:buChar char="•"/>
              <a:tabLst/>
            </a:pPr>
            <a:r>
              <a:rPr kumimoji="0" lang="en-US" altLang="en-US" sz="1100" i="0" u="none" strike="noStrike" cap="none" normalizeH="0" baseline="0" dirty="0">
                <a:ln>
                  <a:noFill/>
                </a:ln>
                <a:solidFill>
                  <a:schemeClr val="tx1"/>
                </a:solidFill>
                <a:effectLst/>
                <a:latin typeface="Arial" panose="020B0604020202020204" pitchFamily="34" charset="0"/>
              </a:rPr>
              <a:t>This positive skewness highlights that while most crashes are cleared quickly, long-duration crashes, though rare, can cause significant disruptions. </a:t>
            </a:r>
          </a:p>
        </p:txBody>
      </p:sp>
    </p:spTree>
    <p:extLst>
      <p:ext uri="{BB962C8B-B14F-4D97-AF65-F5344CB8AC3E}">
        <p14:creationId xmlns:p14="http://schemas.microsoft.com/office/powerpoint/2010/main" val="2780797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E00ED-9AD5-A8B4-E5DA-BDBB78F5D249}"/>
              </a:ext>
            </a:extLst>
          </p:cNvPr>
          <p:cNvSpPr>
            <a:spLocks noGrp="1"/>
          </p:cNvSpPr>
          <p:nvPr>
            <p:ph type="title"/>
          </p:nvPr>
        </p:nvSpPr>
        <p:spPr/>
        <p:txBody>
          <a:bodyPr>
            <a:normAutofit/>
          </a:bodyPr>
          <a:lstStyle/>
          <a:p>
            <a:r>
              <a:rPr lang="en-US" sz="2400" dirty="0"/>
              <a:t>Temporal Distribution of crash counts at the hourly, day of the week, and monthly levels</a:t>
            </a:r>
            <a:endParaRPr lang="en-IN" sz="2400" dirty="0"/>
          </a:p>
        </p:txBody>
      </p:sp>
      <p:pic>
        <p:nvPicPr>
          <p:cNvPr id="5" name="Picture 4">
            <a:extLst>
              <a:ext uri="{FF2B5EF4-FFF2-40B4-BE49-F238E27FC236}">
                <a16:creationId xmlns:a16="http://schemas.microsoft.com/office/drawing/2014/main" id="{BEE671A6-1ECF-743A-A543-EE45B26A8703}"/>
              </a:ext>
            </a:extLst>
          </p:cNvPr>
          <p:cNvPicPr>
            <a:picLocks noChangeAspect="1"/>
          </p:cNvPicPr>
          <p:nvPr/>
        </p:nvPicPr>
        <p:blipFill>
          <a:blip r:embed="rId2"/>
          <a:stretch>
            <a:fillRect/>
          </a:stretch>
        </p:blipFill>
        <p:spPr>
          <a:xfrm>
            <a:off x="6095999" y="1962806"/>
            <a:ext cx="5176345" cy="4391633"/>
          </a:xfrm>
          <a:prstGeom prst="rect">
            <a:avLst/>
          </a:prstGeom>
        </p:spPr>
      </p:pic>
      <p:sp>
        <p:nvSpPr>
          <p:cNvPr id="6" name="Rectangle 1">
            <a:extLst>
              <a:ext uri="{FF2B5EF4-FFF2-40B4-BE49-F238E27FC236}">
                <a16:creationId xmlns:a16="http://schemas.microsoft.com/office/drawing/2014/main" id="{6D476AA3-E1B4-E2B0-4C2A-DA4328D3F932}"/>
              </a:ext>
            </a:extLst>
          </p:cNvPr>
          <p:cNvSpPr>
            <a:spLocks noGrp="1" noChangeArrowheads="1"/>
          </p:cNvSpPr>
          <p:nvPr>
            <p:ph idx="1"/>
          </p:nvPr>
        </p:nvSpPr>
        <p:spPr bwMode="auto">
          <a:xfrm>
            <a:off x="1096963" y="2602469"/>
            <a:ext cx="4999036"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SzTx/>
              <a:buFontTx/>
              <a:buChar char="•"/>
              <a:tabLst/>
            </a:pPr>
            <a:r>
              <a:rPr kumimoji="0" lang="en-US" altLang="en-US" sz="1200" i="0" u="none" strike="noStrike" cap="none" normalizeH="0" baseline="0" dirty="0">
                <a:ln>
                  <a:noFill/>
                </a:ln>
                <a:solidFill>
                  <a:schemeClr val="tx1"/>
                </a:solidFill>
                <a:effectLst/>
                <a:latin typeface="Arial" panose="020B0604020202020204" pitchFamily="34" charset="0"/>
              </a:rPr>
              <a:t>Hourly Trend: Crash counts increase steadily from morning (6 AM) and peak during evening hours (6 PM to 9 PM), indicating higher risks during rush hours. The lowest crash counts are observed late at night and early morning (12 AM to 6 AM).</a:t>
            </a:r>
          </a:p>
          <a:p>
            <a:pPr marL="0" marR="0" lvl="0" indent="0" algn="l" defTabSz="914400" rtl="0" eaLnBrk="0" fontAlgn="base" latinLnBrk="0" hangingPunct="0">
              <a:lnSpc>
                <a:spcPct val="100000"/>
              </a:lnSpc>
              <a:spcBef>
                <a:spcPct val="0"/>
              </a:spcBef>
              <a:spcAft>
                <a:spcPct val="0"/>
              </a:spcAft>
              <a:buSzTx/>
              <a:buFontTx/>
              <a:buChar char="•"/>
              <a:tabLst/>
            </a:pPr>
            <a:endParaRPr kumimoji="0" lang="en-US" altLang="en-US" sz="12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SzTx/>
              <a:buFontTx/>
              <a:buChar char="•"/>
              <a:tabLst/>
            </a:pPr>
            <a:r>
              <a:rPr kumimoji="0" lang="en-US" altLang="en-US" sz="1200" i="0" u="none" strike="noStrike" cap="none" normalizeH="0" baseline="0" dirty="0">
                <a:ln>
                  <a:noFill/>
                </a:ln>
                <a:solidFill>
                  <a:schemeClr val="tx1"/>
                </a:solidFill>
                <a:effectLst/>
                <a:latin typeface="Arial" panose="020B0604020202020204" pitchFamily="34" charset="0"/>
              </a:rPr>
              <a:t>Day of the Week Trend: Crash counts are consistently high from Monday to Friday, with a noticeable dip on weekends (Saturday and Sunday).</a:t>
            </a:r>
          </a:p>
          <a:p>
            <a:pPr marL="0" marR="0" lvl="0" indent="0" algn="l" defTabSz="914400" rtl="0" eaLnBrk="0" fontAlgn="base" latinLnBrk="0" hangingPunct="0">
              <a:lnSpc>
                <a:spcPct val="100000"/>
              </a:lnSpc>
              <a:spcBef>
                <a:spcPct val="0"/>
              </a:spcBef>
              <a:spcAft>
                <a:spcPct val="0"/>
              </a:spcAft>
              <a:buSzTx/>
              <a:buFontTx/>
              <a:buChar char="•"/>
              <a:tabLst/>
            </a:pPr>
            <a:endParaRPr kumimoji="0" lang="en-US" altLang="en-US" sz="12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SzTx/>
              <a:buFontTx/>
              <a:buChar char="•"/>
              <a:tabLst/>
            </a:pPr>
            <a:r>
              <a:rPr kumimoji="0" lang="en-US" altLang="en-US" sz="1200" i="0" u="none" strike="noStrike" cap="none" normalizeH="0" baseline="0" dirty="0">
                <a:ln>
                  <a:noFill/>
                </a:ln>
                <a:solidFill>
                  <a:schemeClr val="tx1"/>
                </a:solidFill>
                <a:effectLst/>
                <a:latin typeface="Arial" panose="020B0604020202020204" pitchFamily="34" charset="0"/>
              </a:rPr>
              <a:t>Monthly Trend: The first quarter of the year (January to March) shows the highest crash counts, followed by a dip during summer (May to July). The counts rise again during September to December, possibly due to seasonal factors and holiday travel.</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2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72253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C1960-6048-1B4E-404B-6FF006B7F9C1}"/>
              </a:ext>
            </a:extLst>
          </p:cNvPr>
          <p:cNvSpPr>
            <a:spLocks noGrp="1"/>
          </p:cNvSpPr>
          <p:nvPr>
            <p:ph type="title"/>
          </p:nvPr>
        </p:nvSpPr>
        <p:spPr/>
        <p:txBody>
          <a:bodyPr>
            <a:normAutofit/>
          </a:bodyPr>
          <a:lstStyle/>
          <a:p>
            <a:r>
              <a:rPr lang="en-US" sz="2400" dirty="0"/>
              <a:t>Visualization to show the relationship between crash duration and the total number of vehicles involved in the crash</a:t>
            </a:r>
            <a:endParaRPr lang="en-IN" sz="2400" dirty="0"/>
          </a:p>
        </p:txBody>
      </p:sp>
      <p:pic>
        <p:nvPicPr>
          <p:cNvPr id="5" name="Picture 4">
            <a:extLst>
              <a:ext uri="{FF2B5EF4-FFF2-40B4-BE49-F238E27FC236}">
                <a16:creationId xmlns:a16="http://schemas.microsoft.com/office/drawing/2014/main" id="{D510B5D9-B749-9918-D514-E4DE1DEBFE5E}"/>
              </a:ext>
            </a:extLst>
          </p:cNvPr>
          <p:cNvPicPr>
            <a:picLocks noChangeAspect="1"/>
          </p:cNvPicPr>
          <p:nvPr/>
        </p:nvPicPr>
        <p:blipFill>
          <a:blip r:embed="rId2"/>
          <a:stretch>
            <a:fillRect/>
          </a:stretch>
        </p:blipFill>
        <p:spPr>
          <a:xfrm>
            <a:off x="5549462" y="2108200"/>
            <a:ext cx="6618995" cy="1651875"/>
          </a:xfrm>
          <a:prstGeom prst="rect">
            <a:avLst/>
          </a:prstGeom>
        </p:spPr>
      </p:pic>
      <p:pic>
        <p:nvPicPr>
          <p:cNvPr id="7" name="Picture 6">
            <a:extLst>
              <a:ext uri="{FF2B5EF4-FFF2-40B4-BE49-F238E27FC236}">
                <a16:creationId xmlns:a16="http://schemas.microsoft.com/office/drawing/2014/main" id="{71C9AABA-0D74-FFEC-9D39-908DDBF603B2}"/>
              </a:ext>
            </a:extLst>
          </p:cNvPr>
          <p:cNvPicPr>
            <a:picLocks noChangeAspect="1"/>
          </p:cNvPicPr>
          <p:nvPr/>
        </p:nvPicPr>
        <p:blipFill>
          <a:blip r:embed="rId3"/>
          <a:stretch>
            <a:fillRect/>
          </a:stretch>
        </p:blipFill>
        <p:spPr>
          <a:xfrm>
            <a:off x="5549462" y="3988646"/>
            <a:ext cx="6568580" cy="1651875"/>
          </a:xfrm>
          <a:prstGeom prst="rect">
            <a:avLst/>
          </a:prstGeom>
        </p:spPr>
      </p:pic>
      <p:sp>
        <p:nvSpPr>
          <p:cNvPr id="8" name="Rectangle 1">
            <a:extLst>
              <a:ext uri="{FF2B5EF4-FFF2-40B4-BE49-F238E27FC236}">
                <a16:creationId xmlns:a16="http://schemas.microsoft.com/office/drawing/2014/main" id="{1D805BE1-1433-AAE3-811E-82682F3AA7AB}"/>
              </a:ext>
            </a:extLst>
          </p:cNvPr>
          <p:cNvSpPr>
            <a:spLocks noGrp="1" noChangeArrowheads="1"/>
          </p:cNvSpPr>
          <p:nvPr>
            <p:ph idx="1"/>
          </p:nvPr>
        </p:nvSpPr>
        <p:spPr bwMode="auto">
          <a:xfrm>
            <a:off x="748862" y="2385199"/>
            <a:ext cx="5044965"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The scatter plot shows that most crashes involve fewer than 10 vehicles and last under 60 minutes, indicating that short-duration crashes are more common.</a:t>
            </a:r>
          </a:p>
          <a:p>
            <a:pPr marL="0" marR="0" lvl="0" indent="0" algn="l" defTabSz="914400" rtl="0" eaLnBrk="0" fontAlgn="base" latinLnBrk="0" hangingPunct="0">
              <a:lnSpc>
                <a:spcPct val="100000"/>
              </a:lnSpc>
              <a:spcBef>
                <a:spcPct val="0"/>
              </a:spcBef>
              <a:spcAft>
                <a:spcPct val="0"/>
              </a:spcAft>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A positive correlation is observed between crash duration and the number of vehicles involved, suggesting that as more vehicles are part of a crash, the time to clear the crash increases.</a:t>
            </a:r>
          </a:p>
          <a:p>
            <a:pPr marL="0" marR="0" lvl="0" indent="0" algn="l" defTabSz="914400" rtl="0" eaLnBrk="0" fontAlgn="base" latinLnBrk="0" hangingPunct="0">
              <a:lnSpc>
                <a:spcPct val="100000"/>
              </a:lnSpc>
              <a:spcBef>
                <a:spcPct val="0"/>
              </a:spcBef>
              <a:spcAft>
                <a:spcPct val="0"/>
              </a:spcAft>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Multi-vehicle crashes tend to have longer durations due to the complexity of managing multiple vehicles and coordinating emergency services.</a:t>
            </a:r>
          </a:p>
          <a:p>
            <a:pPr marL="0" marR="0" lvl="0" indent="0" algn="l" defTabSz="914400" rtl="0" eaLnBrk="0" fontAlgn="base" latinLnBrk="0" hangingPunct="0">
              <a:lnSpc>
                <a:spcPct val="100000"/>
              </a:lnSpc>
              <a:spcBef>
                <a:spcPct val="0"/>
              </a:spcBef>
              <a:spcAft>
                <a:spcPct val="0"/>
              </a:spcAft>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Crashes involving a higher number of vehicles show more variability in duration, highlighting the challenges in handling larger incidents.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44709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384A4-569C-86CF-1855-4C8D9BD3F119}"/>
              </a:ext>
            </a:extLst>
          </p:cNvPr>
          <p:cNvSpPr>
            <a:spLocks noGrp="1"/>
          </p:cNvSpPr>
          <p:nvPr>
            <p:ph type="title"/>
          </p:nvPr>
        </p:nvSpPr>
        <p:spPr/>
        <p:txBody>
          <a:bodyPr>
            <a:normAutofit/>
          </a:bodyPr>
          <a:lstStyle/>
          <a:p>
            <a:r>
              <a:rPr lang="en-US" sz="2800" dirty="0"/>
              <a:t>Visualize the crash count based on the segment functional road class</a:t>
            </a:r>
            <a:endParaRPr lang="en-IN" sz="2800" dirty="0"/>
          </a:p>
        </p:txBody>
      </p:sp>
      <p:pic>
        <p:nvPicPr>
          <p:cNvPr id="7" name="Picture 6">
            <a:extLst>
              <a:ext uri="{FF2B5EF4-FFF2-40B4-BE49-F238E27FC236}">
                <a16:creationId xmlns:a16="http://schemas.microsoft.com/office/drawing/2014/main" id="{FDCAD63B-E072-7BE4-7883-D2F8F2E24960}"/>
              </a:ext>
            </a:extLst>
          </p:cNvPr>
          <p:cNvPicPr>
            <a:picLocks noChangeAspect="1"/>
          </p:cNvPicPr>
          <p:nvPr/>
        </p:nvPicPr>
        <p:blipFill>
          <a:blip r:embed="rId2"/>
          <a:stretch>
            <a:fillRect/>
          </a:stretch>
        </p:blipFill>
        <p:spPr>
          <a:xfrm>
            <a:off x="5242036" y="3005053"/>
            <a:ext cx="6820162" cy="1967185"/>
          </a:xfrm>
          <a:prstGeom prst="rect">
            <a:avLst/>
          </a:prstGeom>
        </p:spPr>
      </p:pic>
      <p:sp>
        <p:nvSpPr>
          <p:cNvPr id="8" name="Rectangle 1">
            <a:extLst>
              <a:ext uri="{FF2B5EF4-FFF2-40B4-BE49-F238E27FC236}">
                <a16:creationId xmlns:a16="http://schemas.microsoft.com/office/drawing/2014/main" id="{A7DC2C87-A6C1-0930-232D-3BE23FD71492}"/>
              </a:ext>
            </a:extLst>
          </p:cNvPr>
          <p:cNvSpPr>
            <a:spLocks noGrp="1" noChangeArrowheads="1"/>
          </p:cNvSpPr>
          <p:nvPr>
            <p:ph idx="1"/>
          </p:nvPr>
        </p:nvSpPr>
        <p:spPr bwMode="auto">
          <a:xfrm>
            <a:off x="252249" y="2453732"/>
            <a:ext cx="5178974" cy="3308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SzTx/>
              <a:buFont typeface="Arial" panose="020B0604020202020204" pitchFamily="34" charset="0"/>
              <a:buChar char="•"/>
            </a:pPr>
            <a:r>
              <a:rPr kumimoji="0" lang="en-US" altLang="en-US" sz="1100" i="0" u="none" strike="noStrike" cap="none" normalizeH="0" baseline="0" dirty="0">
                <a:ln>
                  <a:noFill/>
                </a:ln>
                <a:solidFill>
                  <a:schemeClr val="tx1"/>
                </a:solidFill>
                <a:effectLst/>
                <a:latin typeface="Arial" panose="020B0604020202020204" pitchFamily="34" charset="0"/>
              </a:rPr>
              <a:t>The highest number of crashes is observed on Class 1 roads, which typically represent interstate highways. These roads handle the highest traffic volumes and speeds, increasing the likelihood of crashes.</a:t>
            </a:r>
          </a:p>
          <a:p>
            <a:pPr eaLnBrk="0" fontAlgn="base" hangingPunct="0">
              <a:lnSpc>
                <a:spcPct val="100000"/>
              </a:lnSpc>
              <a:spcBef>
                <a:spcPct val="0"/>
              </a:spcBef>
              <a:spcAft>
                <a:spcPct val="0"/>
              </a:spcAft>
              <a:buSzTx/>
              <a:buFont typeface="Arial" panose="020B0604020202020204" pitchFamily="34" charset="0"/>
              <a:buChar char="•"/>
            </a:pPr>
            <a:endParaRPr lang="en-US" altLang="en-US" sz="1100" dirty="0">
              <a:solidFill>
                <a:schemeClr val="tx1"/>
              </a:solidFill>
              <a:latin typeface="Arial" panose="020B0604020202020204" pitchFamily="34" charset="0"/>
            </a:endParaRPr>
          </a:p>
          <a:p>
            <a:pPr eaLnBrk="0" fontAlgn="base" hangingPunct="0">
              <a:lnSpc>
                <a:spcPct val="100000"/>
              </a:lnSpc>
              <a:spcBef>
                <a:spcPct val="0"/>
              </a:spcBef>
              <a:spcAft>
                <a:spcPct val="0"/>
              </a:spcAft>
              <a:buSzTx/>
              <a:buFont typeface="Arial" panose="020B0604020202020204" pitchFamily="34" charset="0"/>
              <a:buChar char="•"/>
            </a:pPr>
            <a:r>
              <a:rPr kumimoji="0" lang="en-US" altLang="en-US" sz="1100" i="0" u="none" strike="noStrike" cap="none" normalizeH="0" baseline="0" dirty="0">
                <a:ln>
                  <a:noFill/>
                </a:ln>
                <a:solidFill>
                  <a:schemeClr val="tx1"/>
                </a:solidFill>
                <a:effectLst/>
                <a:latin typeface="Arial" panose="020B0604020202020204" pitchFamily="34" charset="0"/>
              </a:rPr>
              <a:t>There is a clear decreasing trend in crash counts as the road class number increases. This indicates that higher-class roads (Class 1 and Class 2) experience significantly more crashes compared to lower-class roads. </a:t>
            </a:r>
          </a:p>
          <a:p>
            <a:pPr eaLnBrk="0" fontAlgn="base" hangingPunct="0">
              <a:lnSpc>
                <a:spcPct val="100000"/>
              </a:lnSpc>
              <a:spcBef>
                <a:spcPct val="0"/>
              </a:spcBef>
              <a:spcAft>
                <a:spcPct val="0"/>
              </a:spcAft>
              <a:buSzTx/>
              <a:buFont typeface="Arial" panose="020B0604020202020204" pitchFamily="34" charset="0"/>
              <a:buChar char="•"/>
            </a:pPr>
            <a:endParaRPr kumimoji="0" lang="en-US" altLang="en-US" sz="110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SzTx/>
              <a:buFont typeface="Arial" panose="020B0604020202020204" pitchFamily="34" charset="0"/>
              <a:buChar char="•"/>
            </a:pPr>
            <a:r>
              <a:rPr kumimoji="0" lang="en-US" altLang="en-US" sz="1100" i="0" u="none" strike="noStrike" cap="none" normalizeH="0" baseline="0" dirty="0">
                <a:ln>
                  <a:noFill/>
                </a:ln>
                <a:solidFill>
                  <a:schemeClr val="tx1"/>
                </a:solidFill>
                <a:effectLst/>
                <a:latin typeface="Arial" panose="020B0604020202020204" pitchFamily="34" charset="0"/>
              </a:rPr>
              <a:t>Class 1 and Class 2 roads combined account for the majority of crash incidents. These road types include interstates and principal arterials, which are more prone to crashes due to high speeds and traffic density. </a:t>
            </a:r>
          </a:p>
          <a:p>
            <a:pPr eaLnBrk="0" fontAlgn="base" hangingPunct="0">
              <a:lnSpc>
                <a:spcPct val="100000"/>
              </a:lnSpc>
              <a:spcBef>
                <a:spcPct val="0"/>
              </a:spcBef>
              <a:spcAft>
                <a:spcPct val="0"/>
              </a:spcAft>
              <a:buSzTx/>
              <a:buFont typeface="Arial" panose="020B0604020202020204" pitchFamily="34" charset="0"/>
              <a:buChar char="•"/>
            </a:pPr>
            <a:endParaRPr kumimoji="0" lang="en-US" altLang="en-US" sz="110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SzTx/>
              <a:buFont typeface="Arial" panose="020B0604020202020204" pitchFamily="34" charset="0"/>
              <a:buChar char="•"/>
            </a:pPr>
            <a:r>
              <a:rPr kumimoji="0" lang="en-US" altLang="en-US" sz="1100" i="0" u="none" strike="noStrike" cap="none" normalizeH="0" baseline="0" dirty="0">
                <a:ln>
                  <a:noFill/>
                </a:ln>
                <a:solidFill>
                  <a:schemeClr val="tx1"/>
                </a:solidFill>
                <a:effectLst/>
                <a:latin typeface="Arial" panose="020B0604020202020204" pitchFamily="34" charset="0"/>
              </a:rPr>
              <a:t>Road classes 3, 4, and 5 show much lower crash counts. These roads usually handle local traffic with lower speeds and are less congested, which likely contributes to the reduced number of incidents. </a:t>
            </a:r>
          </a:p>
          <a:p>
            <a:pPr eaLnBrk="0" fontAlgn="base" hangingPunct="0">
              <a:lnSpc>
                <a:spcPct val="100000"/>
              </a:lnSpc>
              <a:spcBef>
                <a:spcPct val="0"/>
              </a:spcBef>
              <a:spcAft>
                <a:spcPct val="0"/>
              </a:spcAft>
              <a:buSzTx/>
              <a:buFont typeface="Arial" panose="020B0604020202020204" pitchFamily="34" charset="0"/>
              <a:buChar char="•"/>
            </a:pPr>
            <a:endParaRPr kumimoji="0" lang="en-US" altLang="en-US" sz="110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SzTx/>
              <a:buFont typeface="Arial" panose="020B0604020202020204" pitchFamily="34" charset="0"/>
              <a:buChar char="•"/>
            </a:pPr>
            <a:r>
              <a:rPr kumimoji="0" lang="en-US" altLang="en-US" sz="1100" i="0" u="none" strike="noStrike" cap="none" normalizeH="0" baseline="0" dirty="0">
                <a:ln>
                  <a:noFill/>
                </a:ln>
                <a:solidFill>
                  <a:schemeClr val="tx1"/>
                </a:solidFill>
                <a:effectLst/>
                <a:latin typeface="Arial" panose="020B0604020202020204" pitchFamily="34" charset="0"/>
              </a:rPr>
              <a:t>The data highlights the need for safety interventions on highway segments and major arterial roads (Classes 1 and 2). These roads experience higher risk factors such as speeding, congestion, and driver fatigue. </a:t>
            </a:r>
          </a:p>
        </p:txBody>
      </p:sp>
    </p:spTree>
    <p:extLst>
      <p:ext uri="{BB962C8B-B14F-4D97-AF65-F5344CB8AC3E}">
        <p14:creationId xmlns:p14="http://schemas.microsoft.com/office/powerpoint/2010/main" val="268192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DC509-AC2E-6EE0-3441-A4C7E8C902DF}"/>
              </a:ext>
            </a:extLst>
          </p:cNvPr>
          <p:cNvSpPr>
            <a:spLocks noGrp="1"/>
          </p:cNvSpPr>
          <p:nvPr>
            <p:ph type="title"/>
          </p:nvPr>
        </p:nvSpPr>
        <p:spPr/>
        <p:txBody>
          <a:bodyPr>
            <a:normAutofit/>
          </a:bodyPr>
          <a:lstStyle/>
          <a:p>
            <a:r>
              <a:rPr lang="en-US" sz="2800" dirty="0"/>
              <a:t>Pattern between the segments' daily VMT (vehicle mile traveled) and their total crash counts</a:t>
            </a:r>
            <a:endParaRPr lang="en-IN" sz="2800" dirty="0"/>
          </a:p>
        </p:txBody>
      </p:sp>
      <p:pic>
        <p:nvPicPr>
          <p:cNvPr id="5" name="Picture 4">
            <a:extLst>
              <a:ext uri="{FF2B5EF4-FFF2-40B4-BE49-F238E27FC236}">
                <a16:creationId xmlns:a16="http://schemas.microsoft.com/office/drawing/2014/main" id="{4FA44420-66CA-3B1F-FED0-29A540806576}"/>
              </a:ext>
            </a:extLst>
          </p:cNvPr>
          <p:cNvPicPr>
            <a:picLocks noChangeAspect="1"/>
          </p:cNvPicPr>
          <p:nvPr/>
        </p:nvPicPr>
        <p:blipFill>
          <a:blip r:embed="rId2"/>
          <a:stretch>
            <a:fillRect/>
          </a:stretch>
        </p:blipFill>
        <p:spPr>
          <a:xfrm>
            <a:off x="4816365" y="1916490"/>
            <a:ext cx="6432331" cy="2189821"/>
          </a:xfrm>
          <a:prstGeom prst="rect">
            <a:avLst/>
          </a:prstGeom>
        </p:spPr>
      </p:pic>
      <p:pic>
        <p:nvPicPr>
          <p:cNvPr id="7" name="Picture 6">
            <a:extLst>
              <a:ext uri="{FF2B5EF4-FFF2-40B4-BE49-F238E27FC236}">
                <a16:creationId xmlns:a16="http://schemas.microsoft.com/office/drawing/2014/main" id="{F9F9EA8B-5953-5A49-32F3-7D35CE6EA176}"/>
              </a:ext>
            </a:extLst>
          </p:cNvPr>
          <p:cNvPicPr>
            <a:picLocks noChangeAspect="1"/>
          </p:cNvPicPr>
          <p:nvPr/>
        </p:nvPicPr>
        <p:blipFill>
          <a:blip r:embed="rId3"/>
          <a:stretch>
            <a:fillRect/>
          </a:stretch>
        </p:blipFill>
        <p:spPr>
          <a:xfrm>
            <a:off x="5144288" y="4130599"/>
            <a:ext cx="6011392" cy="2234430"/>
          </a:xfrm>
          <a:prstGeom prst="rect">
            <a:avLst/>
          </a:prstGeom>
        </p:spPr>
      </p:pic>
      <p:sp>
        <p:nvSpPr>
          <p:cNvPr id="8" name="Rectangle 1">
            <a:extLst>
              <a:ext uri="{FF2B5EF4-FFF2-40B4-BE49-F238E27FC236}">
                <a16:creationId xmlns:a16="http://schemas.microsoft.com/office/drawing/2014/main" id="{4C8E0BD7-FCCD-40AC-CABF-447F7D9C707D}"/>
              </a:ext>
            </a:extLst>
          </p:cNvPr>
          <p:cNvSpPr>
            <a:spLocks noGrp="1" noChangeArrowheads="1"/>
          </p:cNvSpPr>
          <p:nvPr>
            <p:ph idx="1"/>
          </p:nvPr>
        </p:nvSpPr>
        <p:spPr bwMode="auto">
          <a:xfrm>
            <a:off x="567560" y="2011319"/>
            <a:ext cx="4422227"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SzTx/>
              <a:buFont typeface="Arial" panose="020B0604020202020204" pitchFamily="34" charset="0"/>
              <a:buChar char="•"/>
              <a:tabLst/>
            </a:pPr>
            <a:r>
              <a:rPr kumimoji="0" lang="en-US" altLang="en-US" sz="1200" i="0" u="none" strike="noStrike" cap="none" normalizeH="0" baseline="0" dirty="0">
                <a:ln>
                  <a:noFill/>
                </a:ln>
                <a:solidFill>
                  <a:schemeClr val="tx1"/>
                </a:solidFill>
                <a:effectLst/>
                <a:latin typeface="Arial" panose="020B0604020202020204" pitchFamily="34" charset="0"/>
              </a:rPr>
              <a:t>There is a positive relationship between the daily Vehicle Miles Traveled (VMT) and total crash counts. As VMT increases, the number of crashes also tends to increase.</a:t>
            </a:r>
          </a:p>
          <a:p>
            <a:pPr marR="0" lvl="0" algn="l" defTabSz="914400" rtl="0" eaLnBrk="0" fontAlgn="base" latinLnBrk="0" hangingPunct="0">
              <a:lnSpc>
                <a:spcPct val="100000"/>
              </a:lnSpc>
              <a:spcBef>
                <a:spcPct val="0"/>
              </a:spcBef>
              <a:spcAft>
                <a:spcPct val="0"/>
              </a:spcAft>
              <a:buSzTx/>
              <a:buFont typeface="Arial" panose="020B0604020202020204" pitchFamily="34" charset="0"/>
              <a:buChar char="•"/>
              <a:tabLst/>
            </a:pPr>
            <a:endParaRPr kumimoji="0" lang="en-US" altLang="en-US" sz="120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SzTx/>
              <a:buFont typeface="Arial" panose="020B0604020202020204" pitchFamily="34" charset="0"/>
              <a:buChar char="•"/>
              <a:tabLst/>
            </a:pPr>
            <a:r>
              <a:rPr kumimoji="0" lang="en-US" altLang="en-US" sz="1200" i="0" u="none" strike="noStrike" cap="none" normalizeH="0" baseline="0" dirty="0">
                <a:ln>
                  <a:noFill/>
                </a:ln>
                <a:solidFill>
                  <a:schemeClr val="tx1"/>
                </a:solidFill>
                <a:effectLst/>
                <a:latin typeface="Arial" panose="020B0604020202020204" pitchFamily="34" charset="0"/>
              </a:rPr>
              <a:t>The calculated correlation coefficient between VMT and total crashes is approximately 0.27, indicating a weak to moderate positive linear relationship.</a:t>
            </a:r>
          </a:p>
          <a:p>
            <a:pPr marR="0" lvl="0" algn="l" defTabSz="914400" rtl="0" eaLnBrk="0" fontAlgn="base" latinLnBrk="0" hangingPunct="0">
              <a:lnSpc>
                <a:spcPct val="100000"/>
              </a:lnSpc>
              <a:spcBef>
                <a:spcPct val="0"/>
              </a:spcBef>
              <a:spcAft>
                <a:spcPct val="0"/>
              </a:spcAft>
              <a:buSzTx/>
              <a:buFont typeface="Arial" panose="020B0604020202020204" pitchFamily="34" charset="0"/>
              <a:buChar char="•"/>
              <a:tabLst/>
            </a:pPr>
            <a:endParaRPr kumimoji="0" lang="en-US" altLang="en-US" sz="120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SzTx/>
              <a:buFont typeface="Arial" panose="020B0604020202020204" pitchFamily="34" charset="0"/>
              <a:buChar char="•"/>
              <a:tabLst/>
            </a:pPr>
            <a:r>
              <a:rPr kumimoji="0" lang="en-US" altLang="en-US" sz="1200" i="0" u="none" strike="noStrike" cap="none" normalizeH="0" baseline="0" dirty="0">
                <a:ln>
                  <a:noFill/>
                </a:ln>
                <a:solidFill>
                  <a:schemeClr val="tx1"/>
                </a:solidFill>
                <a:effectLst/>
                <a:latin typeface="Arial" panose="020B0604020202020204" pitchFamily="34" charset="0"/>
              </a:rPr>
              <a:t>The regression trendline in the scatterplot confirms the upward trend, showing that segments with higher VMT generally experience more crashes.</a:t>
            </a:r>
          </a:p>
          <a:p>
            <a:pPr marR="0" lvl="0" algn="l" defTabSz="914400" rtl="0" eaLnBrk="0" fontAlgn="base" latinLnBrk="0" hangingPunct="0">
              <a:lnSpc>
                <a:spcPct val="100000"/>
              </a:lnSpc>
              <a:spcBef>
                <a:spcPct val="0"/>
              </a:spcBef>
              <a:spcAft>
                <a:spcPct val="0"/>
              </a:spcAft>
              <a:buSzTx/>
              <a:buFont typeface="Arial" panose="020B0604020202020204" pitchFamily="34" charset="0"/>
              <a:buChar char="•"/>
              <a:tabLst/>
            </a:pPr>
            <a:endParaRPr kumimoji="0" lang="en-US" altLang="en-US" sz="120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SzTx/>
              <a:buFont typeface="Arial" panose="020B0604020202020204" pitchFamily="34" charset="0"/>
              <a:buChar char="•"/>
              <a:tabLst/>
            </a:pPr>
            <a:r>
              <a:rPr kumimoji="0" lang="en-US" altLang="en-US" sz="1200" i="0" u="none" strike="noStrike" cap="none" normalizeH="0" baseline="0" dirty="0">
                <a:ln>
                  <a:noFill/>
                </a:ln>
                <a:solidFill>
                  <a:schemeClr val="tx1"/>
                </a:solidFill>
                <a:effectLst/>
                <a:latin typeface="Arial" panose="020B0604020202020204" pitchFamily="34" charset="0"/>
              </a:rPr>
              <a:t>The majority of crash counts occur at lower VMT values, suggesting that crashes are more frequent on segments with moderate daily travel rather than extremely high VMT.</a:t>
            </a:r>
          </a:p>
          <a:p>
            <a:pPr marR="0" lvl="0" algn="l" defTabSz="914400" rtl="0" eaLnBrk="0" fontAlgn="base" latinLnBrk="0" hangingPunct="0">
              <a:lnSpc>
                <a:spcPct val="100000"/>
              </a:lnSpc>
              <a:spcBef>
                <a:spcPct val="0"/>
              </a:spcBef>
              <a:spcAft>
                <a:spcPct val="0"/>
              </a:spcAft>
              <a:buSzTx/>
              <a:buFont typeface="Arial" panose="020B0604020202020204" pitchFamily="34" charset="0"/>
              <a:buChar char="•"/>
              <a:tabLst/>
            </a:pPr>
            <a:endParaRPr lang="en-US" altLang="en-US" sz="1200" dirty="0">
              <a:solidFill>
                <a:schemeClr val="tx1"/>
              </a:solidFill>
              <a:latin typeface="Arial" panose="020B0604020202020204" pitchFamily="34" charset="0"/>
            </a:endParaRPr>
          </a:p>
          <a:p>
            <a:pPr marR="0" lvl="0" algn="l" defTabSz="914400" rtl="0" eaLnBrk="0" fontAlgn="base" latinLnBrk="0" hangingPunct="0">
              <a:lnSpc>
                <a:spcPct val="100000"/>
              </a:lnSpc>
              <a:spcBef>
                <a:spcPct val="0"/>
              </a:spcBef>
              <a:spcAft>
                <a:spcPct val="0"/>
              </a:spcAft>
              <a:buSzTx/>
              <a:buFont typeface="Arial" panose="020B0604020202020204" pitchFamily="34" charset="0"/>
              <a:buChar char="•"/>
              <a:tabLst/>
            </a:pPr>
            <a:r>
              <a:rPr lang="en-US" sz="1200" dirty="0">
                <a:latin typeface="Arial" panose="020B0604020202020204" pitchFamily="34" charset="0"/>
                <a:cs typeface="Arial" panose="020B0604020202020204" pitchFamily="34" charset="0"/>
              </a:rPr>
              <a:t>The results indicate that while higher VMT is associated with more crashes, additional factors such as road type, traffic management, and driver behavior likely influence crash frequencies. This suggests that VMT alone does not fully explain crash risk.</a:t>
            </a:r>
            <a:endParaRPr kumimoji="0" lang="en-US" altLang="en-US" sz="120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33057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8FFD9-B6CB-439A-DC1D-7BA228DDCBEF}"/>
              </a:ext>
            </a:extLst>
          </p:cNvPr>
          <p:cNvSpPr>
            <a:spLocks noGrp="1"/>
          </p:cNvSpPr>
          <p:nvPr>
            <p:ph type="title"/>
          </p:nvPr>
        </p:nvSpPr>
        <p:spPr/>
        <p:txBody>
          <a:bodyPr>
            <a:normAutofit/>
          </a:bodyPr>
          <a:lstStyle/>
          <a:p>
            <a:r>
              <a:rPr lang="en-US" sz="3200" dirty="0"/>
              <a:t>Linear Regression and a Random Forest model to estimate crash duration</a:t>
            </a:r>
            <a:endParaRPr lang="en-IN" sz="3200" dirty="0"/>
          </a:p>
        </p:txBody>
      </p:sp>
      <p:sp>
        <p:nvSpPr>
          <p:cNvPr id="3" name="Content Placeholder 2">
            <a:extLst>
              <a:ext uri="{FF2B5EF4-FFF2-40B4-BE49-F238E27FC236}">
                <a16:creationId xmlns:a16="http://schemas.microsoft.com/office/drawing/2014/main" id="{8063FE1E-D065-3B5F-5B0C-4563DD44F722}"/>
              </a:ext>
            </a:extLst>
          </p:cNvPr>
          <p:cNvSpPr>
            <a:spLocks noGrp="1"/>
          </p:cNvSpPr>
          <p:nvPr>
            <p:ph idx="1"/>
          </p:nvPr>
        </p:nvSpPr>
        <p:spPr>
          <a:xfrm>
            <a:off x="1097280" y="2108201"/>
            <a:ext cx="4885734" cy="3760891"/>
          </a:xfrm>
        </p:spPr>
        <p:txBody>
          <a:bodyPr/>
          <a:lstStyle/>
          <a:p>
            <a:r>
              <a:rPr lang="en-IN" sz="1800" dirty="0">
                <a:latin typeface="Arial" panose="020B0604020202020204" pitchFamily="34" charset="0"/>
                <a:cs typeface="Arial" panose="020B0604020202020204" pitchFamily="34" charset="0"/>
              </a:rPr>
              <a:t>Data Preprocessing:</a:t>
            </a:r>
            <a:br>
              <a:rPr lang="en-IN" sz="1800" dirty="0">
                <a:latin typeface="Arial" panose="020B0604020202020204" pitchFamily="34" charset="0"/>
                <a:cs typeface="Arial" panose="020B0604020202020204" pitchFamily="34" charset="0"/>
              </a:rPr>
            </a:br>
            <a:endParaRPr lang="en-IN" sz="1800" dirty="0">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SzTx/>
              <a:buFontTx/>
              <a:buChar char="•"/>
            </a:pPr>
            <a:r>
              <a:rPr lang="en-US" altLang="en-US" sz="1400" dirty="0">
                <a:solidFill>
                  <a:schemeClr val="tx1"/>
                </a:solidFill>
                <a:latin typeface="Arial" panose="020B0604020202020204" pitchFamily="34" charset="0"/>
                <a:cs typeface="Arial" panose="020B0604020202020204" pitchFamily="34" charset="0"/>
              </a:rPr>
              <a:t>Feature Selection: Selected relevant features from the dataset, including crash characteristics like </a:t>
            </a:r>
            <a:r>
              <a:rPr lang="en-US" altLang="en-US" sz="1400" dirty="0" err="1">
                <a:solidFill>
                  <a:schemeClr val="tx1"/>
                </a:solidFill>
                <a:latin typeface="Arial" panose="020B0604020202020204" pitchFamily="34" charset="0"/>
                <a:cs typeface="Arial" panose="020B0604020202020204" pitchFamily="34" charset="0"/>
              </a:rPr>
              <a:t>speed_at_crash</a:t>
            </a:r>
            <a:r>
              <a:rPr lang="en-US" altLang="en-US" sz="1400" dirty="0">
                <a:solidFill>
                  <a:schemeClr val="tx1"/>
                </a:solidFill>
                <a:latin typeface="Arial" panose="020B0604020202020204" pitchFamily="34" charset="0"/>
                <a:cs typeface="Arial" panose="020B0604020202020204" pitchFamily="34" charset="0"/>
              </a:rPr>
              <a:t>, </a:t>
            </a:r>
            <a:r>
              <a:rPr lang="en-US" altLang="en-US" sz="1400" dirty="0" err="1">
                <a:solidFill>
                  <a:schemeClr val="tx1"/>
                </a:solidFill>
                <a:latin typeface="Arial" panose="020B0604020202020204" pitchFamily="34" charset="0"/>
                <a:cs typeface="Arial" panose="020B0604020202020204" pitchFamily="34" charset="0"/>
              </a:rPr>
              <a:t>vehicle_count</a:t>
            </a:r>
            <a:r>
              <a:rPr lang="en-US" altLang="en-US" sz="1400" dirty="0">
                <a:solidFill>
                  <a:schemeClr val="tx1"/>
                </a:solidFill>
                <a:latin typeface="Arial" panose="020B0604020202020204" pitchFamily="34" charset="0"/>
                <a:cs typeface="Arial" panose="020B0604020202020204" pitchFamily="34" charset="0"/>
              </a:rPr>
              <a:t>, </a:t>
            </a:r>
            <a:r>
              <a:rPr lang="en-US" altLang="en-US" sz="1400" dirty="0" err="1">
                <a:solidFill>
                  <a:schemeClr val="tx1"/>
                </a:solidFill>
                <a:latin typeface="Arial" panose="020B0604020202020204" pitchFamily="34" charset="0"/>
                <a:cs typeface="Arial" panose="020B0604020202020204" pitchFamily="34" charset="0"/>
              </a:rPr>
              <a:t>total_lanes</a:t>
            </a:r>
            <a:r>
              <a:rPr lang="en-US" altLang="en-US" sz="1400" dirty="0">
                <a:solidFill>
                  <a:schemeClr val="tx1"/>
                </a:solidFill>
                <a:latin typeface="Arial" panose="020B0604020202020204" pitchFamily="34" charset="0"/>
                <a:cs typeface="Arial" panose="020B0604020202020204" pitchFamily="34" charset="0"/>
              </a:rPr>
              <a:t>, etc.</a:t>
            </a:r>
          </a:p>
          <a:p>
            <a:pPr marL="0" indent="0" eaLnBrk="0" fontAlgn="base" hangingPunct="0">
              <a:lnSpc>
                <a:spcPct val="100000"/>
              </a:lnSpc>
              <a:spcBef>
                <a:spcPct val="0"/>
              </a:spcBef>
              <a:spcAft>
                <a:spcPct val="0"/>
              </a:spcAft>
              <a:buSzTx/>
              <a:buFontTx/>
              <a:buChar char="•"/>
            </a:pPr>
            <a:endParaRPr lang="en-US" altLang="en-US" sz="1400" dirty="0">
              <a:solidFill>
                <a:schemeClr val="tx1"/>
              </a:solidFill>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SzTx/>
              <a:buFontTx/>
              <a:buChar char="•"/>
            </a:pPr>
            <a:r>
              <a:rPr lang="en-US" altLang="en-US" sz="1400" dirty="0">
                <a:solidFill>
                  <a:schemeClr val="tx1"/>
                </a:solidFill>
                <a:latin typeface="Arial" panose="020B0604020202020204" pitchFamily="34" charset="0"/>
                <a:cs typeface="Arial" panose="020B0604020202020204" pitchFamily="34" charset="0"/>
              </a:rPr>
              <a:t>Handling Missing Values: Filled missing values in the dataset using mean imputation to ensure a complete training dataset.</a:t>
            </a:r>
          </a:p>
          <a:p>
            <a:pPr marL="0" indent="0" eaLnBrk="0" fontAlgn="base" hangingPunct="0">
              <a:lnSpc>
                <a:spcPct val="100000"/>
              </a:lnSpc>
              <a:spcBef>
                <a:spcPct val="0"/>
              </a:spcBef>
              <a:spcAft>
                <a:spcPct val="0"/>
              </a:spcAft>
              <a:buSzTx/>
              <a:buFontTx/>
              <a:buChar char="•"/>
            </a:pPr>
            <a:endParaRPr lang="en-US" altLang="en-US" sz="1400" dirty="0">
              <a:solidFill>
                <a:schemeClr val="tx1"/>
              </a:solidFill>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SzTx/>
              <a:buFontTx/>
              <a:buChar char="•"/>
            </a:pPr>
            <a:r>
              <a:rPr lang="en-US" altLang="en-US" sz="1400" dirty="0">
                <a:solidFill>
                  <a:schemeClr val="tx1"/>
                </a:solidFill>
                <a:latin typeface="Arial" panose="020B0604020202020204" pitchFamily="34" charset="0"/>
                <a:cs typeface="Arial" panose="020B0604020202020204" pitchFamily="34" charset="0"/>
              </a:rPr>
              <a:t>Train-Test Split: Split the dataset into training (70%) and testing (30%) sets for model evaluation. </a:t>
            </a:r>
          </a:p>
          <a:p>
            <a:endParaRPr lang="en-IN"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62F4C002-DA86-4994-8D83-97CE29E2FC78}"/>
              </a:ext>
            </a:extLst>
          </p:cNvPr>
          <p:cNvPicPr>
            <a:picLocks noChangeAspect="1"/>
          </p:cNvPicPr>
          <p:nvPr/>
        </p:nvPicPr>
        <p:blipFill>
          <a:blip r:embed="rId2"/>
          <a:stretch>
            <a:fillRect/>
          </a:stretch>
        </p:blipFill>
        <p:spPr>
          <a:xfrm>
            <a:off x="7162197" y="3039618"/>
            <a:ext cx="3803519" cy="778763"/>
          </a:xfrm>
          <a:prstGeom prst="rect">
            <a:avLst/>
          </a:prstGeom>
        </p:spPr>
      </p:pic>
    </p:spTree>
    <p:extLst>
      <p:ext uri="{BB962C8B-B14F-4D97-AF65-F5344CB8AC3E}">
        <p14:creationId xmlns:p14="http://schemas.microsoft.com/office/powerpoint/2010/main" val="532826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677997-FAF1-BA4D-DE3B-92CD74E85394}"/>
              </a:ext>
            </a:extLst>
          </p:cNvPr>
          <p:cNvSpPr>
            <a:spLocks noGrp="1"/>
          </p:cNvSpPr>
          <p:nvPr>
            <p:ph idx="1"/>
          </p:nvPr>
        </p:nvSpPr>
        <p:spPr>
          <a:xfrm>
            <a:off x="1097280" y="1552903"/>
            <a:ext cx="3963451" cy="4316189"/>
          </a:xfrm>
        </p:spPr>
        <p:txBody>
          <a:bodyPr>
            <a:normAutofit/>
          </a:bodyPr>
          <a:lstStyle/>
          <a:p>
            <a:r>
              <a:rPr lang="en-IN" sz="1800" dirty="0">
                <a:latin typeface="+mj-lt"/>
                <a:cs typeface="Arial" panose="020B0604020202020204" pitchFamily="34" charset="0"/>
              </a:rPr>
              <a:t>Linear Regression Model:</a:t>
            </a:r>
          </a:p>
          <a:p>
            <a:pPr>
              <a:buFont typeface="Arial" panose="020B0604020202020204" pitchFamily="34" charset="0"/>
              <a:buChar char="•"/>
            </a:pPr>
            <a:r>
              <a:rPr lang="en-US" sz="1600" dirty="0">
                <a:latin typeface="Arial" panose="020B0604020202020204" pitchFamily="34" charset="0"/>
                <a:cs typeface="Arial" panose="020B0604020202020204" pitchFamily="34" charset="0"/>
              </a:rPr>
              <a:t>Achieved a Mean Absolute Error (MAE) of 27.57 minutes, a Mean Squared Error (MSE) of 1840.20, and an R² score of 0.05.</a:t>
            </a:r>
          </a:p>
          <a:p>
            <a:pPr>
              <a:buFont typeface="Arial" panose="020B0604020202020204" pitchFamily="34" charset="0"/>
              <a:buChar char="•"/>
            </a:pPr>
            <a:r>
              <a:rPr lang="en-US" sz="1600" dirty="0">
                <a:latin typeface="Arial" panose="020B0604020202020204" pitchFamily="34" charset="0"/>
                <a:cs typeface="Arial" panose="020B0604020202020204" pitchFamily="34" charset="0"/>
              </a:rPr>
              <a:t>The R² score indicates that the model explains only 5% of the variance in crash duration, which suggests that Linear Regression is not suitable for this dataset due to the complexity of the relationships between features.</a:t>
            </a:r>
            <a:endParaRPr lang="en-IN" sz="16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D0963150-88C1-D3BC-5268-B74161184A31}"/>
              </a:ext>
            </a:extLst>
          </p:cNvPr>
          <p:cNvPicPr>
            <a:picLocks noChangeAspect="1"/>
          </p:cNvPicPr>
          <p:nvPr/>
        </p:nvPicPr>
        <p:blipFill>
          <a:blip r:embed="rId2"/>
          <a:stretch>
            <a:fillRect/>
          </a:stretch>
        </p:blipFill>
        <p:spPr>
          <a:xfrm>
            <a:off x="6879737" y="2803069"/>
            <a:ext cx="4214983" cy="1251862"/>
          </a:xfrm>
          <a:prstGeom prst="rect">
            <a:avLst/>
          </a:prstGeom>
        </p:spPr>
      </p:pic>
    </p:spTree>
    <p:extLst>
      <p:ext uri="{BB962C8B-B14F-4D97-AF65-F5344CB8AC3E}">
        <p14:creationId xmlns:p14="http://schemas.microsoft.com/office/powerpoint/2010/main" val="2897550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97286-0421-6910-E63B-F56F71BF1AA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978F18-BE0D-7551-8AA7-9D8B53CB2F94}"/>
              </a:ext>
            </a:extLst>
          </p:cNvPr>
          <p:cNvSpPr>
            <a:spLocks noGrp="1"/>
          </p:cNvSpPr>
          <p:nvPr>
            <p:ph idx="1"/>
          </p:nvPr>
        </p:nvSpPr>
        <p:spPr>
          <a:xfrm>
            <a:off x="1097280" y="1552903"/>
            <a:ext cx="3963451" cy="4316189"/>
          </a:xfrm>
        </p:spPr>
        <p:txBody>
          <a:bodyPr>
            <a:normAutofit/>
          </a:bodyPr>
          <a:lstStyle/>
          <a:p>
            <a:r>
              <a:rPr lang="en-IN" sz="1800" dirty="0">
                <a:latin typeface="+mj-lt"/>
                <a:cs typeface="Arial" panose="020B0604020202020204" pitchFamily="34" charset="0"/>
              </a:rPr>
              <a:t>Random Forest Model:</a:t>
            </a:r>
          </a:p>
          <a:p>
            <a:pPr>
              <a:buFont typeface="Arial" panose="020B0604020202020204" pitchFamily="34" charset="0"/>
              <a:buChar char="•"/>
            </a:pPr>
            <a:r>
              <a:rPr lang="en-US" sz="1600" dirty="0">
                <a:latin typeface="Arial" panose="020B0604020202020204" pitchFamily="34" charset="0"/>
                <a:cs typeface="Arial" panose="020B0604020202020204" pitchFamily="34" charset="0"/>
              </a:rPr>
              <a:t>Achieved a slightly better performance than Linear Regression with an MAE of 27.94 minutes, an MSE of 1703.51, and an R² score of 0.12.</a:t>
            </a:r>
          </a:p>
          <a:p>
            <a:pPr>
              <a:buFont typeface="Arial" panose="020B0604020202020204" pitchFamily="34" charset="0"/>
              <a:buChar char="•"/>
            </a:pPr>
            <a:r>
              <a:rPr lang="en-US" sz="1600" dirty="0">
                <a:latin typeface="Arial" panose="020B0604020202020204" pitchFamily="34" charset="0"/>
                <a:cs typeface="Arial" panose="020B0604020202020204" pitchFamily="34" charset="0"/>
              </a:rPr>
              <a:t>The R² score of 0.12 indicates that the Random Forest model captures more variance in crash duration compared to Linear Regression but is still not highly predictive.</a:t>
            </a:r>
            <a:endParaRPr lang="en-IN" sz="16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66A2318B-BCF8-A25A-C750-0F11C0934F09}"/>
              </a:ext>
            </a:extLst>
          </p:cNvPr>
          <p:cNvPicPr>
            <a:picLocks noChangeAspect="1"/>
          </p:cNvPicPr>
          <p:nvPr/>
        </p:nvPicPr>
        <p:blipFill>
          <a:blip r:embed="rId2"/>
          <a:stretch>
            <a:fillRect/>
          </a:stretch>
        </p:blipFill>
        <p:spPr>
          <a:xfrm>
            <a:off x="6479682" y="2682419"/>
            <a:ext cx="3428945" cy="1149888"/>
          </a:xfrm>
          <a:prstGeom prst="rect">
            <a:avLst/>
          </a:prstGeom>
        </p:spPr>
      </p:pic>
    </p:spTree>
    <p:extLst>
      <p:ext uri="{BB962C8B-B14F-4D97-AF65-F5344CB8AC3E}">
        <p14:creationId xmlns:p14="http://schemas.microsoft.com/office/powerpoint/2010/main" val="2271169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4AADA-FA9C-ECE0-0C30-D09DB91B080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580CE3-003F-7D28-CCC5-E4AEF6E73ED6}"/>
              </a:ext>
            </a:extLst>
          </p:cNvPr>
          <p:cNvSpPr>
            <a:spLocks noGrp="1"/>
          </p:cNvSpPr>
          <p:nvPr>
            <p:ph idx="1"/>
          </p:nvPr>
        </p:nvSpPr>
        <p:spPr>
          <a:xfrm>
            <a:off x="1097280" y="1552903"/>
            <a:ext cx="4680782" cy="4316189"/>
          </a:xfrm>
        </p:spPr>
        <p:txBody>
          <a:bodyPr>
            <a:normAutofit/>
          </a:bodyPr>
          <a:lstStyle/>
          <a:p>
            <a:r>
              <a:rPr lang="en-IN" sz="1800" dirty="0">
                <a:latin typeface="+mj-lt"/>
                <a:cs typeface="Arial" panose="020B0604020202020204" pitchFamily="34" charset="0"/>
              </a:rPr>
              <a:t>Feature Selection Using  Correlation:</a:t>
            </a:r>
          </a:p>
          <a:p>
            <a:pPr>
              <a:buFont typeface="Arial" panose="020B0604020202020204" pitchFamily="34" charset="0"/>
              <a:buChar char="•"/>
            </a:pPr>
            <a:r>
              <a:rPr lang="en-US" sz="1600" dirty="0">
                <a:latin typeface="Arial" panose="020B0604020202020204" pitchFamily="34" charset="0"/>
                <a:cs typeface="Arial" panose="020B0604020202020204" pitchFamily="34" charset="0"/>
              </a:rPr>
              <a:t>Analyzed the correlation between features and the target variable (</a:t>
            </a:r>
            <a:r>
              <a:rPr lang="en-US" sz="1600" dirty="0" err="1">
                <a:latin typeface="Arial" panose="020B0604020202020204" pitchFamily="34" charset="0"/>
                <a:cs typeface="Arial" panose="020B0604020202020204" pitchFamily="34" charset="0"/>
              </a:rPr>
              <a:t>crash_duration_minutes</a:t>
            </a:r>
            <a:r>
              <a:rPr lang="en-US" sz="1600" dirty="0">
                <a:latin typeface="Arial" panose="020B0604020202020204" pitchFamily="34" charset="0"/>
                <a:cs typeface="Arial" panose="020B0604020202020204" pitchFamily="34" charset="0"/>
              </a:rPr>
              <a:t>) to identify important predictors.</a:t>
            </a:r>
          </a:p>
          <a:p>
            <a:pPr>
              <a:buFont typeface="Arial" panose="020B0604020202020204" pitchFamily="34" charset="0"/>
              <a:buChar char="•"/>
            </a:pPr>
            <a:r>
              <a:rPr lang="en-US" sz="1600" dirty="0">
                <a:latin typeface="Arial" panose="020B0604020202020204" pitchFamily="34" charset="0"/>
                <a:cs typeface="Arial" panose="020B0604020202020204" pitchFamily="34" charset="0"/>
              </a:rPr>
              <a:t>Removed low-correlation features and selected more impactful ones, including </a:t>
            </a:r>
            <a:r>
              <a:rPr lang="en-US" sz="1600" dirty="0" err="1">
                <a:latin typeface="Arial" panose="020B0604020202020204" pitchFamily="34" charset="0"/>
                <a:cs typeface="Arial" panose="020B0604020202020204" pitchFamily="34" charset="0"/>
              </a:rPr>
              <a:t>SUV_count</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Car&amp;Trailer_count</a:t>
            </a:r>
            <a:r>
              <a:rPr lang="en-US" sz="1600" dirty="0">
                <a:latin typeface="Arial" panose="020B0604020202020204" pitchFamily="34" charset="0"/>
                <a:cs typeface="Arial" panose="020B0604020202020204" pitchFamily="34" charset="0"/>
              </a:rPr>
              <a:t>, overturned, </a:t>
            </a:r>
            <a:r>
              <a:rPr lang="en-US" sz="1600" dirty="0" err="1">
                <a:latin typeface="Arial" panose="020B0604020202020204" pitchFamily="34" charset="0"/>
                <a:cs typeface="Arial" panose="020B0604020202020204" pitchFamily="34" charset="0"/>
              </a:rPr>
              <a:t>total_lanes</a:t>
            </a:r>
            <a:r>
              <a:rPr lang="en-US" sz="1600" dirty="0">
                <a:latin typeface="Arial" panose="020B0604020202020204" pitchFamily="34" charset="0"/>
                <a:cs typeface="Arial" panose="020B0604020202020204" pitchFamily="34" charset="0"/>
              </a:rPr>
              <a:t>, and </a:t>
            </a:r>
            <a:r>
              <a:rPr lang="en-US" sz="1600" dirty="0" err="1">
                <a:latin typeface="Arial" panose="020B0604020202020204" pitchFamily="34" charset="0"/>
                <a:cs typeface="Arial" panose="020B0604020202020204" pitchFamily="34" charset="0"/>
              </a:rPr>
              <a:t>closed_lanes</a:t>
            </a:r>
            <a:r>
              <a:rPr lang="en-US" sz="1600" dirty="0">
                <a:latin typeface="Arial" panose="020B0604020202020204" pitchFamily="34" charset="0"/>
                <a:cs typeface="Arial" panose="020B0604020202020204" pitchFamily="34" charset="0"/>
              </a:rPr>
              <a:t>.</a:t>
            </a:r>
            <a:endParaRPr lang="en-IN" sz="16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665149E2-21D7-FA8A-1FEA-D6B8470DC632}"/>
              </a:ext>
            </a:extLst>
          </p:cNvPr>
          <p:cNvPicPr>
            <a:picLocks noChangeAspect="1"/>
          </p:cNvPicPr>
          <p:nvPr/>
        </p:nvPicPr>
        <p:blipFill>
          <a:blip r:embed="rId2"/>
          <a:stretch>
            <a:fillRect/>
          </a:stretch>
        </p:blipFill>
        <p:spPr>
          <a:xfrm>
            <a:off x="7489547" y="1991313"/>
            <a:ext cx="2674628" cy="3116716"/>
          </a:xfrm>
          <a:prstGeom prst="rect">
            <a:avLst/>
          </a:prstGeom>
        </p:spPr>
      </p:pic>
    </p:spTree>
    <p:extLst>
      <p:ext uri="{BB962C8B-B14F-4D97-AF65-F5344CB8AC3E}">
        <p14:creationId xmlns:p14="http://schemas.microsoft.com/office/powerpoint/2010/main" val="3677341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69172-BD90-9EC6-379C-757B0F24F42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7E6326-5ECF-197A-749F-D821F66FBB19}"/>
              </a:ext>
            </a:extLst>
          </p:cNvPr>
          <p:cNvSpPr>
            <a:spLocks noGrp="1"/>
          </p:cNvSpPr>
          <p:nvPr>
            <p:ph idx="1"/>
          </p:nvPr>
        </p:nvSpPr>
        <p:spPr>
          <a:xfrm>
            <a:off x="1097280" y="1552904"/>
            <a:ext cx="4680782" cy="3484178"/>
          </a:xfrm>
        </p:spPr>
        <p:txBody>
          <a:bodyPr>
            <a:normAutofit/>
          </a:bodyPr>
          <a:lstStyle/>
          <a:p>
            <a:r>
              <a:rPr lang="en-IN" sz="1800" dirty="0">
                <a:latin typeface="+mj-lt"/>
                <a:cs typeface="Arial" panose="020B0604020202020204" pitchFamily="34" charset="0"/>
              </a:rPr>
              <a:t>Results After Making Changes to X:</a:t>
            </a:r>
          </a:p>
          <a:p>
            <a:endParaRPr lang="en-IN" sz="1800" dirty="0">
              <a:latin typeface="Arial" panose="020B0604020202020204" pitchFamily="34" charset="0"/>
              <a:cs typeface="Arial" panose="020B0604020202020204" pitchFamily="34" charset="0"/>
            </a:endParaRPr>
          </a:p>
          <a:p>
            <a:pPr>
              <a:buFont typeface="Arial" panose="020B0604020202020204" pitchFamily="34" charset="0"/>
              <a:buChar char="•"/>
            </a:pPr>
            <a:r>
              <a:rPr lang="en-US" sz="1600" dirty="0">
                <a:latin typeface="Arial" panose="020B0604020202020204" pitchFamily="34" charset="0"/>
                <a:cs typeface="Arial" panose="020B0604020202020204" pitchFamily="34" charset="0"/>
              </a:rPr>
              <a:t>Performance was low, with R² scores of 0.10 and 0.14 for Linear Regression and Random Forest, respectively, indicating that the models were not explaining much variance in the crash duration.</a:t>
            </a:r>
            <a:endParaRPr lang="en-IN" sz="16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C3EB4FE9-66CE-31BA-ADAB-BC09F585B173}"/>
              </a:ext>
            </a:extLst>
          </p:cNvPr>
          <p:cNvPicPr>
            <a:picLocks noChangeAspect="1"/>
          </p:cNvPicPr>
          <p:nvPr/>
        </p:nvPicPr>
        <p:blipFill>
          <a:blip r:embed="rId2"/>
          <a:stretch>
            <a:fillRect/>
          </a:stretch>
        </p:blipFill>
        <p:spPr>
          <a:xfrm>
            <a:off x="7470936" y="2488521"/>
            <a:ext cx="3231652" cy="1013852"/>
          </a:xfrm>
          <a:prstGeom prst="rect">
            <a:avLst/>
          </a:prstGeom>
        </p:spPr>
      </p:pic>
      <p:pic>
        <p:nvPicPr>
          <p:cNvPr id="7" name="Picture 6">
            <a:extLst>
              <a:ext uri="{FF2B5EF4-FFF2-40B4-BE49-F238E27FC236}">
                <a16:creationId xmlns:a16="http://schemas.microsoft.com/office/drawing/2014/main" id="{EC9DAC23-681F-66C7-5CBF-AA28A5FB471F}"/>
              </a:ext>
            </a:extLst>
          </p:cNvPr>
          <p:cNvPicPr>
            <a:picLocks noChangeAspect="1"/>
          </p:cNvPicPr>
          <p:nvPr/>
        </p:nvPicPr>
        <p:blipFill>
          <a:blip r:embed="rId3"/>
          <a:stretch>
            <a:fillRect/>
          </a:stretch>
        </p:blipFill>
        <p:spPr>
          <a:xfrm>
            <a:off x="7470936" y="3891651"/>
            <a:ext cx="3147682" cy="1145431"/>
          </a:xfrm>
          <a:prstGeom prst="rect">
            <a:avLst/>
          </a:prstGeom>
        </p:spPr>
      </p:pic>
    </p:spTree>
    <p:extLst>
      <p:ext uri="{BB962C8B-B14F-4D97-AF65-F5344CB8AC3E}">
        <p14:creationId xmlns:p14="http://schemas.microsoft.com/office/powerpoint/2010/main" val="14857290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FFFE3-D5E8-D1EC-6D24-991E97D8E81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C858AC-9524-58D7-C706-3B0A4F76CF45}"/>
              </a:ext>
            </a:extLst>
          </p:cNvPr>
          <p:cNvSpPr>
            <a:spLocks noGrp="1"/>
          </p:cNvSpPr>
          <p:nvPr>
            <p:ph idx="1"/>
          </p:nvPr>
        </p:nvSpPr>
        <p:spPr>
          <a:xfrm>
            <a:off x="1097280" y="1552904"/>
            <a:ext cx="4680782" cy="3484178"/>
          </a:xfrm>
        </p:spPr>
        <p:txBody>
          <a:bodyPr>
            <a:normAutofit/>
          </a:bodyPr>
          <a:lstStyle/>
          <a:p>
            <a:r>
              <a:rPr lang="en-IN" sz="1800" dirty="0">
                <a:latin typeface="+mj-lt"/>
                <a:cs typeface="Arial" panose="020B0604020202020204" pitchFamily="34" charset="0"/>
              </a:rPr>
              <a:t>Hyperparameter Tuning:</a:t>
            </a:r>
          </a:p>
          <a:p>
            <a:endParaRPr lang="en-IN" sz="1800" dirty="0">
              <a:latin typeface="Arial" panose="020B0604020202020204" pitchFamily="34" charset="0"/>
              <a:cs typeface="Arial" panose="020B0604020202020204" pitchFamily="34" charset="0"/>
            </a:endParaRPr>
          </a:p>
          <a:p>
            <a:pPr>
              <a:buFont typeface="Arial" panose="020B0604020202020204" pitchFamily="34" charset="0"/>
              <a:buChar char="•"/>
            </a:pPr>
            <a:r>
              <a:rPr lang="en-US" sz="1600" dirty="0">
                <a:latin typeface="Arial" panose="020B0604020202020204" pitchFamily="34" charset="0"/>
                <a:cs typeface="Arial" panose="020B0604020202020204" pitchFamily="34" charset="0"/>
              </a:rPr>
              <a:t>Applied </a:t>
            </a:r>
            <a:r>
              <a:rPr lang="en-US" sz="1600" dirty="0" err="1">
                <a:latin typeface="Arial" panose="020B0604020202020204" pitchFamily="34" charset="0"/>
                <a:cs typeface="Arial" panose="020B0604020202020204" pitchFamily="34" charset="0"/>
              </a:rPr>
              <a:t>GridSearchCV</a:t>
            </a:r>
            <a:r>
              <a:rPr lang="en-US" sz="1600" dirty="0">
                <a:latin typeface="Arial" panose="020B0604020202020204" pitchFamily="34" charset="0"/>
                <a:cs typeface="Arial" panose="020B0604020202020204" pitchFamily="34" charset="0"/>
              </a:rPr>
              <a:t> for Random Forest hyperparameter tuning with parameters like </a:t>
            </a:r>
            <a:r>
              <a:rPr lang="en-US" sz="1600" dirty="0" err="1">
                <a:latin typeface="Arial" panose="020B0604020202020204" pitchFamily="34" charset="0"/>
                <a:cs typeface="Arial" panose="020B0604020202020204" pitchFamily="34" charset="0"/>
              </a:rPr>
              <a:t>n_estimators</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max_depth</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min_samples_split</a:t>
            </a:r>
            <a:r>
              <a:rPr lang="en-US" sz="1600" dirty="0">
                <a:latin typeface="Arial" panose="020B0604020202020204" pitchFamily="34" charset="0"/>
                <a:cs typeface="Arial" panose="020B0604020202020204" pitchFamily="34" charset="0"/>
              </a:rPr>
              <a:t>, and </a:t>
            </a:r>
            <a:r>
              <a:rPr lang="en-US" sz="1600" dirty="0" err="1">
                <a:latin typeface="Arial" panose="020B0604020202020204" pitchFamily="34" charset="0"/>
                <a:cs typeface="Arial" panose="020B0604020202020204" pitchFamily="34" charset="0"/>
              </a:rPr>
              <a:t>min_samples_leaf</a:t>
            </a:r>
            <a:r>
              <a:rPr lang="en-US" sz="1600" dirty="0">
                <a:latin typeface="Arial" panose="020B0604020202020204" pitchFamily="34" charset="0"/>
                <a:cs typeface="Arial" panose="020B0604020202020204" pitchFamily="34" charset="0"/>
              </a:rPr>
              <a:t>.</a:t>
            </a:r>
          </a:p>
          <a:p>
            <a:pPr>
              <a:buFont typeface="Arial" panose="020B0604020202020204" pitchFamily="34" charset="0"/>
              <a:buChar char="•"/>
            </a:pPr>
            <a:r>
              <a:rPr lang="en-US" sz="1600" dirty="0">
                <a:latin typeface="Arial" panose="020B0604020202020204" pitchFamily="34" charset="0"/>
                <a:cs typeface="Arial" panose="020B0604020202020204" pitchFamily="34" charset="0"/>
              </a:rPr>
              <a:t>The best-tuned model slightly improved the R² score to 0.16, but the improvement was marginal.</a:t>
            </a:r>
            <a:endParaRPr lang="en-IN" sz="16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0A80CE31-A63D-9347-601D-2D0C3EB94B4D}"/>
              </a:ext>
            </a:extLst>
          </p:cNvPr>
          <p:cNvPicPr>
            <a:picLocks noChangeAspect="1"/>
          </p:cNvPicPr>
          <p:nvPr/>
        </p:nvPicPr>
        <p:blipFill>
          <a:blip r:embed="rId2"/>
          <a:stretch>
            <a:fillRect/>
          </a:stretch>
        </p:blipFill>
        <p:spPr>
          <a:xfrm>
            <a:off x="6208988" y="2638847"/>
            <a:ext cx="5808367" cy="539778"/>
          </a:xfrm>
          <a:prstGeom prst="rect">
            <a:avLst/>
          </a:prstGeom>
        </p:spPr>
      </p:pic>
      <p:pic>
        <p:nvPicPr>
          <p:cNvPr id="8" name="Picture 7">
            <a:extLst>
              <a:ext uri="{FF2B5EF4-FFF2-40B4-BE49-F238E27FC236}">
                <a16:creationId xmlns:a16="http://schemas.microsoft.com/office/drawing/2014/main" id="{64E18E1F-D7C4-E894-4EFF-CB0C6EE665B8}"/>
              </a:ext>
            </a:extLst>
          </p:cNvPr>
          <p:cNvPicPr>
            <a:picLocks noChangeAspect="1"/>
          </p:cNvPicPr>
          <p:nvPr/>
        </p:nvPicPr>
        <p:blipFill>
          <a:blip r:embed="rId3"/>
          <a:stretch>
            <a:fillRect/>
          </a:stretch>
        </p:blipFill>
        <p:spPr>
          <a:xfrm>
            <a:off x="6413940" y="3679375"/>
            <a:ext cx="2476627" cy="730288"/>
          </a:xfrm>
          <a:prstGeom prst="rect">
            <a:avLst/>
          </a:prstGeom>
        </p:spPr>
      </p:pic>
    </p:spTree>
    <p:extLst>
      <p:ext uri="{BB962C8B-B14F-4D97-AF65-F5344CB8AC3E}">
        <p14:creationId xmlns:p14="http://schemas.microsoft.com/office/powerpoint/2010/main" val="10019419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BF893-8AF8-6303-0B86-3930B85C10E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CE326B-C077-1D3F-0B69-F5DEC08B94F6}"/>
              </a:ext>
            </a:extLst>
          </p:cNvPr>
          <p:cNvSpPr>
            <a:spLocks noGrp="1"/>
          </p:cNvSpPr>
          <p:nvPr>
            <p:ph idx="1"/>
          </p:nvPr>
        </p:nvSpPr>
        <p:spPr>
          <a:xfrm>
            <a:off x="1097280" y="1552903"/>
            <a:ext cx="4838437" cy="4316189"/>
          </a:xfrm>
        </p:spPr>
        <p:txBody>
          <a:bodyPr>
            <a:normAutofit fontScale="92500" lnSpcReduction="10000"/>
          </a:bodyPr>
          <a:lstStyle/>
          <a:p>
            <a:r>
              <a:rPr lang="en-US" dirty="0">
                <a:latin typeface="+mj-lt"/>
                <a:cs typeface="Arial" panose="020B0604020202020204" pitchFamily="34" charset="0"/>
              </a:rPr>
              <a:t>Categorical Feature Handling:</a:t>
            </a:r>
            <a:br>
              <a:rPr lang="en-US" sz="1800" dirty="0">
                <a:latin typeface="+mj-lt"/>
                <a:cs typeface="Arial" panose="020B0604020202020204" pitchFamily="34" charset="0"/>
              </a:rPr>
            </a:br>
            <a:endParaRPr lang="en-US" sz="1800" dirty="0">
              <a:latin typeface="+mj-lt"/>
              <a:cs typeface="Arial" panose="020B0604020202020204" pitchFamily="34" charset="0"/>
            </a:endParaRPr>
          </a:p>
          <a:p>
            <a:pPr>
              <a:buFont typeface="Arial" panose="020B0604020202020204" pitchFamily="34" charset="0"/>
              <a:buChar char="•"/>
            </a:pPr>
            <a:r>
              <a:rPr lang="en-US" sz="1700" dirty="0">
                <a:latin typeface="Arial" panose="020B0604020202020204" pitchFamily="34" charset="0"/>
                <a:cs typeface="Arial" panose="020B0604020202020204" pitchFamily="34" charset="0"/>
              </a:rPr>
              <a:t>Identified categorical variables such as </a:t>
            </a:r>
            <a:r>
              <a:rPr lang="en-US" sz="1700" dirty="0" err="1">
                <a:latin typeface="Arial" panose="020B0604020202020204" pitchFamily="34" charset="0"/>
                <a:cs typeface="Arial" panose="020B0604020202020204" pitchFamily="34" charset="0"/>
              </a:rPr>
              <a:t>event_subtype</a:t>
            </a:r>
            <a:r>
              <a:rPr lang="en-US" sz="1700" dirty="0">
                <a:latin typeface="Arial" panose="020B0604020202020204" pitchFamily="34" charset="0"/>
                <a:cs typeface="Arial" panose="020B0604020202020204" pitchFamily="34" charset="0"/>
              </a:rPr>
              <a:t>, </a:t>
            </a:r>
            <a:r>
              <a:rPr lang="en-US" sz="1700" dirty="0" err="1">
                <a:latin typeface="Arial" panose="020B0604020202020204" pitchFamily="34" charset="0"/>
                <a:cs typeface="Arial" panose="020B0604020202020204" pitchFamily="34" charset="0"/>
              </a:rPr>
              <a:t>precipitation_flag</a:t>
            </a:r>
            <a:r>
              <a:rPr lang="en-US" sz="1700" dirty="0">
                <a:latin typeface="Arial" panose="020B0604020202020204" pitchFamily="34" charset="0"/>
                <a:cs typeface="Arial" panose="020B0604020202020204" pitchFamily="34" charset="0"/>
              </a:rPr>
              <a:t>, </a:t>
            </a:r>
            <a:r>
              <a:rPr lang="en-US" sz="1700" dirty="0" err="1">
                <a:latin typeface="Arial" panose="020B0604020202020204" pitchFamily="34" charset="0"/>
                <a:cs typeface="Arial" panose="020B0604020202020204" pitchFamily="34" charset="0"/>
              </a:rPr>
              <a:t>road_condition</a:t>
            </a:r>
            <a:r>
              <a:rPr lang="en-US" sz="1700" dirty="0">
                <a:latin typeface="Arial" panose="020B0604020202020204" pitchFamily="34" charset="0"/>
                <a:cs typeface="Arial" panose="020B0604020202020204" pitchFamily="34" charset="0"/>
              </a:rPr>
              <a:t>, </a:t>
            </a:r>
            <a:r>
              <a:rPr lang="en-US" sz="1700" dirty="0" err="1">
                <a:latin typeface="Arial" panose="020B0604020202020204" pitchFamily="34" charset="0"/>
                <a:cs typeface="Arial" panose="020B0604020202020204" pitchFamily="34" charset="0"/>
              </a:rPr>
              <a:t>start_day_of_week</a:t>
            </a:r>
            <a:r>
              <a:rPr lang="en-US" sz="1700" dirty="0">
                <a:latin typeface="Arial" panose="020B0604020202020204" pitchFamily="34" charset="0"/>
                <a:cs typeface="Arial" panose="020B0604020202020204" pitchFamily="34" charset="0"/>
              </a:rPr>
              <a:t>, and </a:t>
            </a:r>
            <a:r>
              <a:rPr lang="en-US" sz="1700" dirty="0" err="1">
                <a:latin typeface="Arial" panose="020B0604020202020204" pitchFamily="34" charset="0"/>
                <a:cs typeface="Arial" panose="020B0604020202020204" pitchFamily="34" charset="0"/>
              </a:rPr>
              <a:t>func_class</a:t>
            </a:r>
            <a:r>
              <a:rPr lang="en-US" sz="1700" dirty="0">
                <a:latin typeface="Arial" panose="020B0604020202020204" pitchFamily="34" charset="0"/>
                <a:cs typeface="Arial" panose="020B0604020202020204" pitchFamily="34" charset="0"/>
              </a:rPr>
              <a:t>.</a:t>
            </a:r>
          </a:p>
          <a:p>
            <a:pPr>
              <a:buFont typeface="Arial" panose="020B0604020202020204" pitchFamily="34" charset="0"/>
              <a:buChar char="•"/>
            </a:pPr>
            <a:r>
              <a:rPr lang="en-US" sz="1700" dirty="0">
                <a:latin typeface="Arial" panose="020B0604020202020204" pitchFamily="34" charset="0"/>
                <a:cs typeface="Arial" panose="020B0604020202020204" pitchFamily="34" charset="0"/>
              </a:rPr>
              <a:t>Performed one-hot encoding to convert categorical features into numerical format for better model performance.</a:t>
            </a:r>
          </a:p>
          <a:p>
            <a:pPr>
              <a:buFont typeface="Arial" panose="020B0604020202020204" pitchFamily="34" charset="0"/>
              <a:buChar char="•"/>
            </a:pPr>
            <a:r>
              <a:rPr lang="en-US" sz="1700" dirty="0">
                <a:latin typeface="Arial" panose="020B0604020202020204" pitchFamily="34" charset="0"/>
                <a:cs typeface="Arial" panose="020B0604020202020204" pitchFamily="34" charset="0"/>
              </a:rPr>
              <a:t>Post-encoding, the dataset expanded to 83 columns, capturing more nuanced information about road conditions, precipitation, and crash context.</a:t>
            </a:r>
          </a:p>
          <a:p>
            <a:pPr>
              <a:buFont typeface="Arial" panose="020B0604020202020204" pitchFamily="34" charset="0"/>
              <a:buChar char="•"/>
            </a:pPr>
            <a:r>
              <a:rPr lang="en-US" sz="1700" dirty="0">
                <a:latin typeface="Arial" panose="020B0604020202020204" pitchFamily="34" charset="0"/>
                <a:cs typeface="Arial" panose="020B0604020202020204" pitchFamily="34" charset="0"/>
              </a:rPr>
              <a:t>Rechecked the correlation to validate the impact of encoded features on crash duration.</a:t>
            </a:r>
            <a:endParaRPr lang="en-IN" sz="17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B42516D9-C3B9-3AA3-F650-F6B6C7BC66B9}"/>
              </a:ext>
            </a:extLst>
          </p:cNvPr>
          <p:cNvPicPr>
            <a:picLocks noChangeAspect="1"/>
          </p:cNvPicPr>
          <p:nvPr/>
        </p:nvPicPr>
        <p:blipFill>
          <a:blip r:embed="rId2"/>
          <a:stretch>
            <a:fillRect/>
          </a:stretch>
        </p:blipFill>
        <p:spPr>
          <a:xfrm>
            <a:off x="6645504" y="2288524"/>
            <a:ext cx="4303648" cy="3192110"/>
          </a:xfrm>
          <a:prstGeom prst="rect">
            <a:avLst/>
          </a:prstGeom>
        </p:spPr>
      </p:pic>
    </p:spTree>
    <p:extLst>
      <p:ext uri="{BB962C8B-B14F-4D97-AF65-F5344CB8AC3E}">
        <p14:creationId xmlns:p14="http://schemas.microsoft.com/office/powerpoint/2010/main" val="1558038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EF300-9CE9-4923-63E2-68152766702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6FC599-C6F3-292E-C83E-7097AD5CBA74}"/>
              </a:ext>
            </a:extLst>
          </p:cNvPr>
          <p:cNvSpPr>
            <a:spLocks noGrp="1"/>
          </p:cNvSpPr>
          <p:nvPr>
            <p:ph idx="1"/>
          </p:nvPr>
        </p:nvSpPr>
        <p:spPr>
          <a:xfrm>
            <a:off x="1097280" y="1552903"/>
            <a:ext cx="4838437" cy="4316189"/>
          </a:xfrm>
        </p:spPr>
        <p:txBody>
          <a:bodyPr>
            <a:normAutofit/>
          </a:bodyPr>
          <a:lstStyle/>
          <a:p>
            <a:r>
              <a:rPr lang="en-US" dirty="0">
                <a:latin typeface="+mj-lt"/>
                <a:cs typeface="Arial" panose="020B0604020202020204" pitchFamily="34" charset="0"/>
              </a:rPr>
              <a:t>NA fixtures:</a:t>
            </a:r>
          </a:p>
          <a:p>
            <a:pPr>
              <a:buFont typeface="Arial" panose="020B0604020202020204" pitchFamily="34" charset="0"/>
              <a:buChar char="•"/>
            </a:pPr>
            <a:r>
              <a:rPr lang="en-US" sz="1600" dirty="0">
                <a:latin typeface="Arial" panose="020B0604020202020204" pitchFamily="34" charset="0"/>
                <a:cs typeface="Arial" panose="020B0604020202020204" pitchFamily="34" charset="0"/>
              </a:rPr>
              <a:t>Identified missing values across multiple columns and quantified the extent of missing data in the dataset.</a:t>
            </a:r>
          </a:p>
          <a:p>
            <a:pPr>
              <a:buFont typeface="Arial" panose="020B0604020202020204" pitchFamily="34" charset="0"/>
              <a:buChar char="•"/>
            </a:pPr>
            <a:r>
              <a:rPr lang="en-US" sz="1600" dirty="0">
                <a:latin typeface="Arial" panose="020B0604020202020204" pitchFamily="34" charset="0"/>
                <a:cs typeface="Arial" panose="020B0604020202020204" pitchFamily="34" charset="0"/>
              </a:rPr>
              <a:t>Applied mean imputation for numerical columns and mode imputation for categorical columns to handle missing values.</a:t>
            </a:r>
          </a:p>
          <a:p>
            <a:pPr>
              <a:buFont typeface="Arial" panose="020B0604020202020204" pitchFamily="34" charset="0"/>
              <a:buChar char="•"/>
            </a:pPr>
            <a:r>
              <a:rPr lang="en-US" sz="1600" dirty="0">
                <a:latin typeface="Arial" panose="020B0604020202020204" pitchFamily="34" charset="0"/>
                <a:cs typeface="Arial" panose="020B0604020202020204" pitchFamily="34" charset="0"/>
              </a:rPr>
              <a:t>Verified successful imputation, ensuring zero missing values in the dataset for a cleaner and more complete analysis.</a:t>
            </a:r>
          </a:p>
        </p:txBody>
      </p:sp>
      <p:pic>
        <p:nvPicPr>
          <p:cNvPr id="8" name="Picture 7">
            <a:extLst>
              <a:ext uri="{FF2B5EF4-FFF2-40B4-BE49-F238E27FC236}">
                <a16:creationId xmlns:a16="http://schemas.microsoft.com/office/drawing/2014/main" id="{1401846F-FB93-412C-738F-F2A42A4CCC48}"/>
              </a:ext>
            </a:extLst>
          </p:cNvPr>
          <p:cNvPicPr>
            <a:picLocks noChangeAspect="1"/>
          </p:cNvPicPr>
          <p:nvPr/>
        </p:nvPicPr>
        <p:blipFill>
          <a:blip r:embed="rId2"/>
          <a:stretch>
            <a:fillRect/>
          </a:stretch>
        </p:blipFill>
        <p:spPr>
          <a:xfrm>
            <a:off x="7214411" y="2117078"/>
            <a:ext cx="2900611" cy="2117445"/>
          </a:xfrm>
          <a:prstGeom prst="rect">
            <a:avLst/>
          </a:prstGeom>
        </p:spPr>
      </p:pic>
      <p:pic>
        <p:nvPicPr>
          <p:cNvPr id="10" name="Picture 9">
            <a:extLst>
              <a:ext uri="{FF2B5EF4-FFF2-40B4-BE49-F238E27FC236}">
                <a16:creationId xmlns:a16="http://schemas.microsoft.com/office/drawing/2014/main" id="{383639BB-05BE-CCC8-54EC-BE138007E444}"/>
              </a:ext>
            </a:extLst>
          </p:cNvPr>
          <p:cNvPicPr>
            <a:picLocks noChangeAspect="1"/>
          </p:cNvPicPr>
          <p:nvPr/>
        </p:nvPicPr>
        <p:blipFill>
          <a:blip r:embed="rId3"/>
          <a:stretch>
            <a:fillRect/>
          </a:stretch>
        </p:blipFill>
        <p:spPr>
          <a:xfrm>
            <a:off x="7214411" y="4638446"/>
            <a:ext cx="3880309" cy="486035"/>
          </a:xfrm>
          <a:prstGeom prst="rect">
            <a:avLst/>
          </a:prstGeom>
        </p:spPr>
      </p:pic>
    </p:spTree>
    <p:extLst>
      <p:ext uri="{BB962C8B-B14F-4D97-AF65-F5344CB8AC3E}">
        <p14:creationId xmlns:p14="http://schemas.microsoft.com/office/powerpoint/2010/main" val="35519213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83F9D-0D4F-E5F9-9A4F-2AE182105EF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4B1760-963D-E154-051E-B58E9F6BD7C3}"/>
              </a:ext>
            </a:extLst>
          </p:cNvPr>
          <p:cNvSpPr>
            <a:spLocks noGrp="1"/>
          </p:cNvSpPr>
          <p:nvPr>
            <p:ph idx="1"/>
          </p:nvPr>
        </p:nvSpPr>
        <p:spPr>
          <a:xfrm>
            <a:off x="1097280" y="1552903"/>
            <a:ext cx="5957789" cy="4316189"/>
          </a:xfrm>
        </p:spPr>
        <p:txBody>
          <a:bodyPr>
            <a:normAutofit/>
          </a:bodyPr>
          <a:lstStyle/>
          <a:p>
            <a:r>
              <a:rPr lang="en-US" dirty="0">
                <a:latin typeface="+mj-lt"/>
                <a:cs typeface="Arial" panose="020B0604020202020204" pitchFamily="34" charset="0"/>
              </a:rPr>
              <a:t>Feature Selection and Multicollinearity Handling:</a:t>
            </a:r>
          </a:p>
          <a:p>
            <a:pPr>
              <a:buFont typeface="Arial" panose="020B0604020202020204" pitchFamily="34" charset="0"/>
              <a:buChar char="•"/>
            </a:pPr>
            <a:r>
              <a:rPr lang="en-US" sz="1600" dirty="0">
                <a:latin typeface="Arial" panose="020B0604020202020204" pitchFamily="34" charset="0"/>
                <a:cs typeface="Arial" panose="020B0604020202020204" pitchFamily="34" charset="0"/>
              </a:rPr>
              <a:t>Calculated Variance Inflation Factor (VIF) to detect multicollinearity in the </a:t>
            </a:r>
            <a:r>
              <a:rPr lang="en-US" sz="1600" dirty="0" err="1">
                <a:latin typeface="Arial" panose="020B0604020202020204" pitchFamily="34" charset="0"/>
                <a:cs typeface="Arial" panose="020B0604020202020204" pitchFamily="34" charset="0"/>
              </a:rPr>
              <a:t>dataset.Dropped</a:t>
            </a:r>
            <a:r>
              <a:rPr lang="en-US" sz="1600" dirty="0">
                <a:latin typeface="Arial" panose="020B0604020202020204" pitchFamily="34" charset="0"/>
                <a:cs typeface="Arial" panose="020B0604020202020204" pitchFamily="34" charset="0"/>
              </a:rPr>
              <a:t> features with high VIF values to reduce redundancy and improve model performance.</a:t>
            </a:r>
          </a:p>
          <a:p>
            <a:pPr>
              <a:buFont typeface="Arial" panose="020B0604020202020204" pitchFamily="34" charset="0"/>
              <a:buChar char="•"/>
            </a:pPr>
            <a:r>
              <a:rPr lang="en-US" sz="1600" dirty="0">
                <a:latin typeface="Arial" panose="020B0604020202020204" pitchFamily="34" charset="0"/>
                <a:cs typeface="Arial" panose="020B0604020202020204" pitchFamily="34" charset="0"/>
              </a:rPr>
              <a:t>Recomputed VIF to ensure the remaining features had acceptable multicollinearity levels.</a:t>
            </a:r>
          </a:p>
          <a:p>
            <a:pPr>
              <a:buFont typeface="Arial" panose="020B0604020202020204" pitchFamily="34" charset="0"/>
              <a:buChar char="•"/>
            </a:pPr>
            <a:r>
              <a:rPr lang="en-US" sz="1600" dirty="0">
                <a:latin typeface="Arial" panose="020B0604020202020204" pitchFamily="34" charset="0"/>
                <a:cs typeface="Arial" panose="020B0604020202020204" pitchFamily="34" charset="0"/>
              </a:rPr>
              <a:t>Trained Linear Regression and Random Forest Regressor models with the updated feature set.</a:t>
            </a:r>
          </a:p>
        </p:txBody>
      </p:sp>
      <p:pic>
        <p:nvPicPr>
          <p:cNvPr id="5" name="Picture 4">
            <a:extLst>
              <a:ext uri="{FF2B5EF4-FFF2-40B4-BE49-F238E27FC236}">
                <a16:creationId xmlns:a16="http://schemas.microsoft.com/office/drawing/2014/main" id="{F1F336AC-A92D-C2C1-D0D5-0C42D97D9E86}"/>
              </a:ext>
            </a:extLst>
          </p:cNvPr>
          <p:cNvPicPr>
            <a:picLocks noChangeAspect="1"/>
          </p:cNvPicPr>
          <p:nvPr/>
        </p:nvPicPr>
        <p:blipFill>
          <a:blip r:embed="rId2"/>
          <a:stretch>
            <a:fillRect/>
          </a:stretch>
        </p:blipFill>
        <p:spPr>
          <a:xfrm>
            <a:off x="7055069" y="2139883"/>
            <a:ext cx="3988005" cy="2578233"/>
          </a:xfrm>
          <a:prstGeom prst="rect">
            <a:avLst/>
          </a:prstGeom>
        </p:spPr>
      </p:pic>
    </p:spTree>
    <p:extLst>
      <p:ext uri="{BB962C8B-B14F-4D97-AF65-F5344CB8AC3E}">
        <p14:creationId xmlns:p14="http://schemas.microsoft.com/office/powerpoint/2010/main" val="3908572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46C94-E6E4-F987-98DA-935499522C5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D099E3-3DCC-E796-7223-B7F7A5E82997}"/>
              </a:ext>
            </a:extLst>
          </p:cNvPr>
          <p:cNvSpPr>
            <a:spLocks noGrp="1"/>
          </p:cNvSpPr>
          <p:nvPr>
            <p:ph idx="1"/>
          </p:nvPr>
        </p:nvSpPr>
        <p:spPr>
          <a:xfrm>
            <a:off x="1089397" y="1608084"/>
            <a:ext cx="5579417" cy="4599968"/>
          </a:xfrm>
        </p:spPr>
        <p:txBody>
          <a:bodyPr>
            <a:normAutofit/>
          </a:bodyPr>
          <a:lstStyle/>
          <a:p>
            <a:r>
              <a:rPr lang="en-US" dirty="0">
                <a:latin typeface="+mj-lt"/>
                <a:cs typeface="Arial" panose="020B0604020202020204" pitchFamily="34" charset="0"/>
              </a:rPr>
              <a:t>Did LR &amp; RFR with Hyper-parameter Tuning again!</a:t>
            </a:r>
            <a:endParaRPr lang="en-US" sz="1800" dirty="0">
              <a:latin typeface="+mj-lt"/>
              <a:cs typeface="Arial" panose="020B0604020202020204" pitchFamily="34" charset="0"/>
            </a:endParaRPr>
          </a:p>
          <a:p>
            <a:pPr>
              <a:buFont typeface="Arial" panose="020B0604020202020204" pitchFamily="34" charset="0"/>
              <a:buChar char="•"/>
            </a:pPr>
            <a:r>
              <a:rPr lang="en-US" sz="1300" dirty="0">
                <a:latin typeface="Arial" panose="020B0604020202020204" pitchFamily="34" charset="0"/>
                <a:cs typeface="Arial" panose="020B0604020202020204" pitchFamily="34" charset="0"/>
              </a:rPr>
              <a:t>The final model was trained using a mix of numerical and categorical features, including </a:t>
            </a:r>
            <a:r>
              <a:rPr lang="en-US" sz="1300" dirty="0" err="1">
                <a:latin typeface="Arial" panose="020B0604020202020204" pitchFamily="34" charset="0"/>
                <a:cs typeface="Arial" panose="020B0604020202020204" pitchFamily="34" charset="0"/>
              </a:rPr>
              <a:t>SUV_count</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closed_lanes</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road_class</a:t>
            </a:r>
            <a:r>
              <a:rPr lang="en-US" sz="1300" dirty="0">
                <a:latin typeface="Arial" panose="020B0604020202020204" pitchFamily="34" charset="0"/>
                <a:cs typeface="Arial" panose="020B0604020202020204" pitchFamily="34" charset="0"/>
              </a:rPr>
              <a:t>, and various </a:t>
            </a:r>
            <a:r>
              <a:rPr lang="en-US" sz="1300" dirty="0" err="1">
                <a:latin typeface="Arial" panose="020B0604020202020204" pitchFamily="34" charset="0"/>
                <a:cs typeface="Arial" panose="020B0604020202020204" pitchFamily="34" charset="0"/>
              </a:rPr>
              <a:t>event_subtype</a:t>
            </a:r>
            <a:r>
              <a:rPr lang="en-US" sz="1300" dirty="0">
                <a:latin typeface="Arial" panose="020B0604020202020204" pitchFamily="34" charset="0"/>
                <a:cs typeface="Arial" panose="020B0604020202020204" pitchFamily="34" charset="0"/>
              </a:rPr>
              <a:t> and direction variables.</a:t>
            </a:r>
            <a:br>
              <a:rPr lang="en-US" sz="1300" dirty="0">
                <a:latin typeface="Arial" panose="020B0604020202020204" pitchFamily="34" charset="0"/>
                <a:cs typeface="Arial" panose="020B0604020202020204" pitchFamily="34" charset="0"/>
              </a:rPr>
            </a:br>
            <a:endParaRPr lang="en-US" sz="1300" dirty="0">
              <a:latin typeface="Arial" panose="020B0604020202020204" pitchFamily="34" charset="0"/>
              <a:cs typeface="Arial" panose="020B0604020202020204" pitchFamily="34" charset="0"/>
            </a:endParaRPr>
          </a:p>
          <a:p>
            <a:pPr>
              <a:buFont typeface="Arial" panose="020B0604020202020204" pitchFamily="34" charset="0"/>
              <a:buChar char="•"/>
            </a:pPr>
            <a:r>
              <a:rPr lang="en-US" sz="1300" dirty="0">
                <a:latin typeface="Arial" panose="020B0604020202020204" pitchFamily="34" charset="0"/>
                <a:cs typeface="Arial" panose="020B0604020202020204" pitchFamily="34" charset="0"/>
              </a:rPr>
              <a:t>Categorical features were one-hot encoded to convert them into numerical format, ensuring the model could handle non-linear relationships.</a:t>
            </a:r>
          </a:p>
          <a:p>
            <a:pPr>
              <a:buFont typeface="Arial" panose="020B0604020202020204" pitchFamily="34" charset="0"/>
              <a:buChar char="•"/>
            </a:pPr>
            <a:r>
              <a:rPr lang="en-US" sz="1300" dirty="0">
                <a:latin typeface="Arial" panose="020B0604020202020204" pitchFamily="34" charset="0"/>
                <a:cs typeface="Arial" panose="020B0604020202020204" pitchFamily="34" charset="0"/>
              </a:rPr>
              <a:t>After adjusting the feature set, the Linear Regression model improved significantly with an R² score of 0.27, indicating that the new features helped capture more variance in crash duration. </a:t>
            </a:r>
          </a:p>
          <a:p>
            <a:pPr>
              <a:buFont typeface="Arial" panose="020B0604020202020204" pitchFamily="34" charset="0"/>
              <a:buChar char="•"/>
            </a:pPr>
            <a:r>
              <a:rPr lang="en-US" sz="1300" dirty="0">
                <a:latin typeface="Arial" panose="020B0604020202020204" pitchFamily="34" charset="0"/>
                <a:cs typeface="Arial" panose="020B0604020202020204" pitchFamily="34" charset="0"/>
              </a:rPr>
              <a:t>The tuned Random Forest model achieved an R² score of 0.30, with a Mean Absolute Error (MAE) of 25.15 minutes. This indicates a steady improvement in accuracy compared to the initial models, though there is still room for further enhancements.</a:t>
            </a:r>
          </a:p>
        </p:txBody>
      </p:sp>
      <p:pic>
        <p:nvPicPr>
          <p:cNvPr id="5" name="Picture 4">
            <a:extLst>
              <a:ext uri="{FF2B5EF4-FFF2-40B4-BE49-F238E27FC236}">
                <a16:creationId xmlns:a16="http://schemas.microsoft.com/office/drawing/2014/main" id="{67135036-6B5C-E7A3-A5A8-4C54895D1E50}"/>
              </a:ext>
            </a:extLst>
          </p:cNvPr>
          <p:cNvPicPr>
            <a:picLocks noChangeAspect="1"/>
          </p:cNvPicPr>
          <p:nvPr/>
        </p:nvPicPr>
        <p:blipFill>
          <a:blip r:embed="rId2"/>
          <a:stretch>
            <a:fillRect/>
          </a:stretch>
        </p:blipFill>
        <p:spPr>
          <a:xfrm>
            <a:off x="7369441" y="2143107"/>
            <a:ext cx="3625792" cy="1128238"/>
          </a:xfrm>
          <a:prstGeom prst="rect">
            <a:avLst/>
          </a:prstGeom>
        </p:spPr>
      </p:pic>
      <p:pic>
        <p:nvPicPr>
          <p:cNvPr id="7" name="Picture 6">
            <a:extLst>
              <a:ext uri="{FF2B5EF4-FFF2-40B4-BE49-F238E27FC236}">
                <a16:creationId xmlns:a16="http://schemas.microsoft.com/office/drawing/2014/main" id="{3DE2E88B-C7CA-1D9F-9EAC-10F75FC85133}"/>
              </a:ext>
            </a:extLst>
          </p:cNvPr>
          <p:cNvPicPr>
            <a:picLocks noChangeAspect="1"/>
          </p:cNvPicPr>
          <p:nvPr/>
        </p:nvPicPr>
        <p:blipFill>
          <a:blip r:embed="rId3"/>
          <a:stretch>
            <a:fillRect/>
          </a:stretch>
        </p:blipFill>
        <p:spPr>
          <a:xfrm>
            <a:off x="7369440" y="3626071"/>
            <a:ext cx="3501121" cy="1128238"/>
          </a:xfrm>
          <a:prstGeom prst="rect">
            <a:avLst/>
          </a:prstGeom>
        </p:spPr>
      </p:pic>
    </p:spTree>
    <p:extLst>
      <p:ext uri="{BB962C8B-B14F-4D97-AF65-F5344CB8AC3E}">
        <p14:creationId xmlns:p14="http://schemas.microsoft.com/office/powerpoint/2010/main" val="24107544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D0BD7-D4F7-645D-E296-D66D5B07A12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1C4066-10BC-AB26-E7A5-299006BDAF0F}"/>
              </a:ext>
            </a:extLst>
          </p:cNvPr>
          <p:cNvSpPr>
            <a:spLocks noGrp="1"/>
          </p:cNvSpPr>
          <p:nvPr>
            <p:ph idx="1"/>
          </p:nvPr>
        </p:nvSpPr>
        <p:spPr>
          <a:xfrm>
            <a:off x="1097280" y="1552903"/>
            <a:ext cx="7518575" cy="441435"/>
          </a:xfrm>
        </p:spPr>
        <p:txBody>
          <a:bodyPr>
            <a:normAutofit fontScale="92500"/>
          </a:bodyPr>
          <a:lstStyle/>
          <a:p>
            <a:r>
              <a:rPr lang="en-IN" dirty="0">
                <a:latin typeface="+mj-lt"/>
              </a:rPr>
              <a:t>Gradient Boosting Regressor (GBR) with Hyperparameter Tuning:</a:t>
            </a:r>
          </a:p>
        </p:txBody>
      </p:sp>
      <p:pic>
        <p:nvPicPr>
          <p:cNvPr id="5" name="Picture 4">
            <a:extLst>
              <a:ext uri="{FF2B5EF4-FFF2-40B4-BE49-F238E27FC236}">
                <a16:creationId xmlns:a16="http://schemas.microsoft.com/office/drawing/2014/main" id="{480985B0-D77A-A0DD-509A-8905E5BAF09A}"/>
              </a:ext>
            </a:extLst>
          </p:cNvPr>
          <p:cNvPicPr>
            <a:picLocks noChangeAspect="1"/>
          </p:cNvPicPr>
          <p:nvPr/>
        </p:nvPicPr>
        <p:blipFill>
          <a:blip r:embed="rId2"/>
          <a:stretch>
            <a:fillRect/>
          </a:stretch>
        </p:blipFill>
        <p:spPr>
          <a:xfrm>
            <a:off x="5992021" y="3026980"/>
            <a:ext cx="6143625" cy="1521372"/>
          </a:xfrm>
          <a:prstGeom prst="rect">
            <a:avLst/>
          </a:prstGeom>
        </p:spPr>
      </p:pic>
      <p:sp>
        <p:nvSpPr>
          <p:cNvPr id="6" name="TextBox 5">
            <a:extLst>
              <a:ext uri="{FF2B5EF4-FFF2-40B4-BE49-F238E27FC236}">
                <a16:creationId xmlns:a16="http://schemas.microsoft.com/office/drawing/2014/main" id="{5ECEA3FA-7553-3E3D-AB33-B0C8ECD6CE61}"/>
              </a:ext>
            </a:extLst>
          </p:cNvPr>
          <p:cNvSpPr txBox="1"/>
          <p:nvPr/>
        </p:nvSpPr>
        <p:spPr>
          <a:xfrm>
            <a:off x="1018001" y="2364828"/>
            <a:ext cx="4974020" cy="3046988"/>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en-US" sz="1200" dirty="0"/>
              <a:t>Gradient Boosting Regressor (GBR) was introduced to improve the model's performance after Random Forest yielded low results.</a:t>
            </a:r>
          </a:p>
          <a:p>
            <a:pPr marL="285750" indent="-285750">
              <a:buClr>
                <a:schemeClr val="accent1"/>
              </a:buClr>
              <a:buFont typeface="Arial" panose="020B0604020202020204" pitchFamily="34" charset="0"/>
              <a:buChar char="•"/>
            </a:pPr>
            <a:r>
              <a:rPr lang="en-US" sz="1200" dirty="0"/>
              <a:t>Hyperparameter tuning was performed using </a:t>
            </a:r>
            <a:r>
              <a:rPr lang="en-US" sz="1200" dirty="0" err="1"/>
              <a:t>GridSearchCV</a:t>
            </a:r>
            <a:r>
              <a:rPr lang="en-US" sz="1200" dirty="0"/>
              <a:t> to identify the best parameters like </a:t>
            </a:r>
            <a:r>
              <a:rPr lang="en-US" sz="1200" dirty="0" err="1"/>
              <a:t>n_estimators</a:t>
            </a:r>
            <a:r>
              <a:rPr lang="en-US" sz="1200" dirty="0"/>
              <a:t>, </a:t>
            </a:r>
            <a:r>
              <a:rPr lang="en-US" sz="1200" dirty="0" err="1"/>
              <a:t>max_depth</a:t>
            </a:r>
            <a:r>
              <a:rPr lang="en-US" sz="1200" dirty="0"/>
              <a:t>, </a:t>
            </a:r>
            <a:r>
              <a:rPr lang="en-US" sz="1200" dirty="0" err="1"/>
              <a:t>learning_rate</a:t>
            </a:r>
            <a:r>
              <a:rPr lang="en-US" sz="1200" dirty="0"/>
              <a:t>, </a:t>
            </a:r>
            <a:r>
              <a:rPr lang="en-US" sz="1200" dirty="0" err="1"/>
              <a:t>min_samples_split</a:t>
            </a:r>
            <a:r>
              <a:rPr lang="en-US" sz="1200" dirty="0"/>
              <a:t>, and </a:t>
            </a:r>
            <a:r>
              <a:rPr lang="en-US" sz="1200" dirty="0" err="1"/>
              <a:t>min_samples_leaf</a:t>
            </a:r>
            <a:r>
              <a:rPr lang="en-US" sz="1200" dirty="0"/>
              <a:t>.</a:t>
            </a:r>
          </a:p>
          <a:p>
            <a:pPr marL="285750" indent="-285750">
              <a:buClr>
                <a:schemeClr val="accent1"/>
              </a:buClr>
              <a:buFont typeface="Arial" panose="020B0604020202020204" pitchFamily="34" charset="0"/>
              <a:buChar char="•"/>
            </a:pPr>
            <a:r>
              <a:rPr lang="en-US" sz="1200" dirty="0"/>
              <a:t>The best parameters found were:</a:t>
            </a:r>
            <a:br>
              <a:rPr lang="en-US" sz="1200" dirty="0"/>
            </a:br>
            <a:r>
              <a:rPr lang="en-US" sz="1200" dirty="0" err="1"/>
              <a:t>learning_rate</a:t>
            </a:r>
            <a:r>
              <a:rPr lang="en-US" sz="1200" dirty="0"/>
              <a:t>: 0.1</a:t>
            </a:r>
            <a:br>
              <a:rPr lang="en-US" sz="1200" dirty="0"/>
            </a:br>
            <a:r>
              <a:rPr lang="en-US" sz="1200" dirty="0" err="1"/>
              <a:t>max_depth</a:t>
            </a:r>
            <a:r>
              <a:rPr lang="en-US" sz="1200" dirty="0"/>
              <a:t>: 3</a:t>
            </a:r>
            <a:br>
              <a:rPr lang="en-US" sz="1200" dirty="0"/>
            </a:br>
            <a:r>
              <a:rPr lang="en-US" sz="1200" dirty="0" err="1"/>
              <a:t>n_estimators</a:t>
            </a:r>
            <a:r>
              <a:rPr lang="en-US" sz="1200" dirty="0"/>
              <a:t>: 100</a:t>
            </a:r>
            <a:br>
              <a:rPr lang="en-US" sz="1200" dirty="0"/>
            </a:br>
            <a:r>
              <a:rPr lang="en-US" sz="1200" dirty="0" err="1"/>
              <a:t>min_samples_split</a:t>
            </a:r>
            <a:r>
              <a:rPr lang="en-US" sz="1200" dirty="0"/>
              <a:t>: 10</a:t>
            </a:r>
            <a:br>
              <a:rPr lang="en-US" sz="1200" dirty="0"/>
            </a:br>
            <a:r>
              <a:rPr lang="en-US" sz="1200" dirty="0" err="1"/>
              <a:t>min_samples_leaf</a:t>
            </a:r>
            <a:r>
              <a:rPr lang="en-US" sz="1200" dirty="0"/>
              <a:t>: 4</a:t>
            </a:r>
          </a:p>
          <a:p>
            <a:pPr marL="285750" indent="-285750">
              <a:buClr>
                <a:schemeClr val="accent1"/>
              </a:buClr>
              <a:buFont typeface="Arial" panose="020B0604020202020204" pitchFamily="34" charset="0"/>
              <a:buChar char="•"/>
            </a:pPr>
            <a:r>
              <a:rPr lang="en-US" sz="1200" dirty="0"/>
              <a:t>The tuned GBR model improved the R² score to 0.30, indicating a better performance than previous models.</a:t>
            </a:r>
          </a:p>
          <a:p>
            <a:pPr marL="285750" indent="-285750">
              <a:buClr>
                <a:schemeClr val="accent1"/>
              </a:buClr>
              <a:buFont typeface="Arial" panose="020B0604020202020204" pitchFamily="34" charset="0"/>
              <a:buChar char="•"/>
            </a:pPr>
            <a:r>
              <a:rPr lang="en-US" sz="1200" dirty="0"/>
              <a:t>The Mean Absolute Error (MAE) and Mean Squared Error (MSE) were also reduced, showing that GBR effectively minimizes prediction errors.</a:t>
            </a:r>
            <a:endParaRPr lang="en-IN" sz="1200" dirty="0"/>
          </a:p>
        </p:txBody>
      </p:sp>
    </p:spTree>
    <p:extLst>
      <p:ext uri="{BB962C8B-B14F-4D97-AF65-F5344CB8AC3E}">
        <p14:creationId xmlns:p14="http://schemas.microsoft.com/office/powerpoint/2010/main" val="14180303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6BB61-4D12-F296-CD75-096186B01AE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825D64-4997-B680-E037-928AC8A5A3C9}"/>
              </a:ext>
            </a:extLst>
          </p:cNvPr>
          <p:cNvSpPr>
            <a:spLocks noGrp="1"/>
          </p:cNvSpPr>
          <p:nvPr>
            <p:ph idx="1"/>
          </p:nvPr>
        </p:nvSpPr>
        <p:spPr>
          <a:xfrm>
            <a:off x="1097280" y="1552903"/>
            <a:ext cx="7518575" cy="441435"/>
          </a:xfrm>
        </p:spPr>
        <p:txBody>
          <a:bodyPr>
            <a:normAutofit/>
          </a:bodyPr>
          <a:lstStyle/>
          <a:p>
            <a:r>
              <a:rPr lang="en-US" dirty="0" err="1">
                <a:latin typeface="+mj-lt"/>
              </a:rPr>
              <a:t>XGBoost</a:t>
            </a:r>
            <a:r>
              <a:rPr lang="en-US" dirty="0">
                <a:latin typeface="+mj-lt"/>
              </a:rPr>
              <a:t> Regressor with Hyperparameter Tuning:</a:t>
            </a:r>
            <a:endParaRPr lang="en-IN" dirty="0">
              <a:latin typeface="+mj-lt"/>
            </a:endParaRPr>
          </a:p>
        </p:txBody>
      </p:sp>
      <p:sp>
        <p:nvSpPr>
          <p:cNvPr id="6" name="TextBox 5">
            <a:extLst>
              <a:ext uri="{FF2B5EF4-FFF2-40B4-BE49-F238E27FC236}">
                <a16:creationId xmlns:a16="http://schemas.microsoft.com/office/drawing/2014/main" id="{946C4A87-7990-C364-F802-569B40F547DE}"/>
              </a:ext>
            </a:extLst>
          </p:cNvPr>
          <p:cNvSpPr txBox="1"/>
          <p:nvPr/>
        </p:nvSpPr>
        <p:spPr>
          <a:xfrm>
            <a:off x="906518" y="2258109"/>
            <a:ext cx="4974020" cy="3046988"/>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en-US" sz="1200" dirty="0" err="1"/>
              <a:t>XGBoost</a:t>
            </a:r>
            <a:r>
              <a:rPr lang="en-US" sz="1200" dirty="0"/>
              <a:t> was introduced as an improvement over previous models due to its efficiency and performance on structured/tabular data.</a:t>
            </a:r>
          </a:p>
          <a:p>
            <a:pPr marL="285750" indent="-285750">
              <a:buClr>
                <a:schemeClr val="accent1"/>
              </a:buClr>
              <a:buFont typeface="Arial" panose="020B0604020202020204" pitchFamily="34" charset="0"/>
              <a:buChar char="•"/>
            </a:pPr>
            <a:r>
              <a:rPr lang="en-US" sz="1200" dirty="0"/>
              <a:t>Hyperparameter tuning was performed using </a:t>
            </a:r>
            <a:r>
              <a:rPr lang="en-US" sz="1200" dirty="0" err="1"/>
              <a:t>GridSearchCV</a:t>
            </a:r>
            <a:r>
              <a:rPr lang="en-US" sz="1200" dirty="0"/>
              <a:t>, optimizing parameters such as </a:t>
            </a:r>
            <a:r>
              <a:rPr lang="en-US" sz="1200" dirty="0" err="1"/>
              <a:t>n_estimators</a:t>
            </a:r>
            <a:r>
              <a:rPr lang="en-US" sz="1200" dirty="0"/>
              <a:t>, </a:t>
            </a:r>
            <a:r>
              <a:rPr lang="en-US" sz="1200" dirty="0" err="1"/>
              <a:t>max_depth</a:t>
            </a:r>
            <a:r>
              <a:rPr lang="en-US" sz="1200" dirty="0"/>
              <a:t>, </a:t>
            </a:r>
            <a:r>
              <a:rPr lang="en-US" sz="1200" dirty="0" err="1"/>
              <a:t>learning_rate</a:t>
            </a:r>
            <a:r>
              <a:rPr lang="en-US" sz="1200" dirty="0"/>
              <a:t>, </a:t>
            </a:r>
            <a:r>
              <a:rPr lang="en-US" sz="1200" dirty="0" err="1"/>
              <a:t>min_child_weight</a:t>
            </a:r>
            <a:r>
              <a:rPr lang="en-US" sz="1200" dirty="0"/>
              <a:t>, subsample, and </a:t>
            </a:r>
            <a:r>
              <a:rPr lang="en-US" sz="1200" dirty="0" err="1"/>
              <a:t>colsample_bytree</a:t>
            </a:r>
            <a:r>
              <a:rPr lang="en-US" sz="1200" dirty="0"/>
              <a:t>.</a:t>
            </a:r>
          </a:p>
          <a:p>
            <a:pPr marL="285750" indent="-285750">
              <a:buClr>
                <a:schemeClr val="accent1"/>
              </a:buClr>
              <a:buFont typeface="Arial" panose="020B0604020202020204" pitchFamily="34" charset="0"/>
              <a:buChar char="•"/>
            </a:pPr>
            <a:r>
              <a:rPr lang="en-US" sz="1200" dirty="0"/>
              <a:t>The best parameters identified were:</a:t>
            </a:r>
            <a:br>
              <a:rPr lang="en-US" sz="1200" dirty="0"/>
            </a:br>
            <a:r>
              <a:rPr lang="en-US" sz="1200" dirty="0" err="1"/>
              <a:t>colsample_bytree</a:t>
            </a:r>
            <a:r>
              <a:rPr lang="en-US" sz="1200" dirty="0"/>
              <a:t>: 0.8</a:t>
            </a:r>
            <a:br>
              <a:rPr lang="en-US" sz="1200" dirty="0"/>
            </a:br>
            <a:r>
              <a:rPr lang="en-US" sz="1200" dirty="0" err="1"/>
              <a:t>learning_rate</a:t>
            </a:r>
            <a:r>
              <a:rPr lang="en-US" sz="1200" dirty="0"/>
              <a:t>: 0.1</a:t>
            </a:r>
            <a:br>
              <a:rPr lang="en-US" sz="1200" dirty="0"/>
            </a:br>
            <a:r>
              <a:rPr lang="en-US" sz="1200" dirty="0" err="1"/>
              <a:t>max_depth</a:t>
            </a:r>
            <a:r>
              <a:rPr lang="en-US" sz="1200" dirty="0"/>
              <a:t>: 3</a:t>
            </a:r>
            <a:br>
              <a:rPr lang="en-US" sz="1200" dirty="0"/>
            </a:br>
            <a:r>
              <a:rPr lang="en-US" sz="1200" dirty="0" err="1"/>
              <a:t>min_child_weight</a:t>
            </a:r>
            <a:r>
              <a:rPr lang="en-US" sz="1200" dirty="0"/>
              <a:t>: 5</a:t>
            </a:r>
            <a:br>
              <a:rPr lang="en-US" sz="1200" dirty="0"/>
            </a:br>
            <a:r>
              <a:rPr lang="en-US" sz="1200" dirty="0" err="1"/>
              <a:t>n_estimators</a:t>
            </a:r>
            <a:r>
              <a:rPr lang="en-US" sz="1200" dirty="0"/>
              <a:t>: 100</a:t>
            </a:r>
            <a:br>
              <a:rPr lang="en-US" sz="1200" dirty="0"/>
            </a:br>
            <a:r>
              <a:rPr lang="en-US" sz="1200" dirty="0"/>
              <a:t>subsample: 1.0</a:t>
            </a:r>
          </a:p>
          <a:p>
            <a:pPr marL="285750" indent="-285750">
              <a:buClr>
                <a:schemeClr val="accent1"/>
              </a:buClr>
              <a:buFont typeface="Arial" panose="020B0604020202020204" pitchFamily="34" charset="0"/>
              <a:buChar char="•"/>
            </a:pPr>
            <a:r>
              <a:rPr lang="en-US" sz="1200" dirty="0"/>
              <a:t>The tuned </a:t>
            </a:r>
            <a:r>
              <a:rPr lang="en-US" sz="1200" dirty="0" err="1"/>
              <a:t>XGBoost</a:t>
            </a:r>
            <a:r>
              <a:rPr lang="en-US" sz="1200" dirty="0"/>
              <a:t> model achieved an R² score of 0.31, showing a slight improvement over the Gradient Boosting model. The Mean Absolute Error (MAE) and Mean Squared Error (MSE) were further reduced, indicating better predictive accuracy for crash duration.</a:t>
            </a:r>
            <a:endParaRPr lang="en-IN" sz="1200" dirty="0"/>
          </a:p>
        </p:txBody>
      </p:sp>
      <p:pic>
        <p:nvPicPr>
          <p:cNvPr id="4" name="Picture 3">
            <a:extLst>
              <a:ext uri="{FF2B5EF4-FFF2-40B4-BE49-F238E27FC236}">
                <a16:creationId xmlns:a16="http://schemas.microsoft.com/office/drawing/2014/main" id="{03FE4299-8DA6-6630-AC73-93A7BC181C47}"/>
              </a:ext>
            </a:extLst>
          </p:cNvPr>
          <p:cNvPicPr>
            <a:picLocks noChangeAspect="1"/>
          </p:cNvPicPr>
          <p:nvPr/>
        </p:nvPicPr>
        <p:blipFill>
          <a:blip r:embed="rId2"/>
          <a:stretch>
            <a:fillRect/>
          </a:stretch>
        </p:blipFill>
        <p:spPr>
          <a:xfrm>
            <a:off x="6096000" y="3276470"/>
            <a:ext cx="6035098" cy="1329818"/>
          </a:xfrm>
          <a:prstGeom prst="rect">
            <a:avLst/>
          </a:prstGeom>
        </p:spPr>
      </p:pic>
    </p:spTree>
    <p:extLst>
      <p:ext uri="{BB962C8B-B14F-4D97-AF65-F5344CB8AC3E}">
        <p14:creationId xmlns:p14="http://schemas.microsoft.com/office/powerpoint/2010/main" val="34607603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C3FB6-6468-DBE7-788F-4301C1FA5E3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3A1B32-FD06-5968-9177-92122504635B}"/>
              </a:ext>
            </a:extLst>
          </p:cNvPr>
          <p:cNvSpPr>
            <a:spLocks noGrp="1"/>
          </p:cNvSpPr>
          <p:nvPr>
            <p:ph idx="1"/>
          </p:nvPr>
        </p:nvSpPr>
        <p:spPr>
          <a:xfrm>
            <a:off x="1097280" y="1552903"/>
            <a:ext cx="7518575" cy="441435"/>
          </a:xfrm>
        </p:spPr>
        <p:txBody>
          <a:bodyPr>
            <a:normAutofit/>
          </a:bodyPr>
          <a:lstStyle/>
          <a:p>
            <a:r>
              <a:rPr lang="en-IN" dirty="0">
                <a:latin typeface="+mj-lt"/>
              </a:rPr>
              <a:t>Feature Importance Analysis Using </a:t>
            </a:r>
            <a:r>
              <a:rPr lang="en-IN" dirty="0" err="1">
                <a:latin typeface="+mj-lt"/>
              </a:rPr>
              <a:t>XGBoost</a:t>
            </a:r>
            <a:r>
              <a:rPr lang="en-IN" dirty="0">
                <a:latin typeface="+mj-lt"/>
              </a:rPr>
              <a:t>:</a:t>
            </a:r>
          </a:p>
        </p:txBody>
      </p:sp>
      <p:sp>
        <p:nvSpPr>
          <p:cNvPr id="6" name="TextBox 5">
            <a:extLst>
              <a:ext uri="{FF2B5EF4-FFF2-40B4-BE49-F238E27FC236}">
                <a16:creationId xmlns:a16="http://schemas.microsoft.com/office/drawing/2014/main" id="{2F2CE7C3-CC3B-67EC-A33E-FC8725762247}"/>
              </a:ext>
            </a:extLst>
          </p:cNvPr>
          <p:cNvSpPr txBox="1"/>
          <p:nvPr/>
        </p:nvSpPr>
        <p:spPr>
          <a:xfrm>
            <a:off x="772510" y="1994338"/>
            <a:ext cx="4974020" cy="4339650"/>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en-US" sz="1200" dirty="0"/>
              <a:t>The AADT (Annual Average Daily Traffic) was identified as the most critical feature influencing crash duration, suggesting that higher traffic volume significantly increases the time required to clear crashes. This implies that crash management strategies should focus more on high-traffic areas.</a:t>
            </a:r>
          </a:p>
          <a:p>
            <a:pPr marL="285750" indent="-285750">
              <a:buClr>
                <a:schemeClr val="accent1"/>
              </a:buClr>
              <a:buFont typeface="Arial" panose="020B0604020202020204" pitchFamily="34" charset="0"/>
              <a:buChar char="•"/>
            </a:pPr>
            <a:r>
              <a:rPr lang="en-US" sz="1200" dirty="0"/>
              <a:t>Miles (Segment Length) and Start Hour also play substantial roles in predicting crash durations. Longer road segments likely experience extended crash durations due to the complexity of managing incidents over larger areas, while the time of day impacts both traffic flow and the availability of emergency services.</a:t>
            </a:r>
          </a:p>
          <a:p>
            <a:pPr marL="285750" indent="-285750">
              <a:buClr>
                <a:schemeClr val="accent1"/>
              </a:buClr>
              <a:buFont typeface="Arial" panose="020B0604020202020204" pitchFamily="34" charset="0"/>
              <a:buChar char="•"/>
            </a:pPr>
            <a:r>
              <a:rPr lang="en-US" sz="1200" dirty="0"/>
              <a:t>The number of Closed Lanes and Open Lanes are key operational factors affecting crash duration, indicating that lane closures during crashes directly increase clearance time. Similarly, SUV Count suggests that vehicle type can impact crash management, with larger vehicles potentially requiring more time to remove from the scene.</a:t>
            </a:r>
          </a:p>
          <a:p>
            <a:pPr marL="285750" indent="-285750">
              <a:buClr>
                <a:schemeClr val="accent1"/>
              </a:buClr>
              <a:buFont typeface="Arial" panose="020B0604020202020204" pitchFamily="34" charset="0"/>
              <a:buChar char="•"/>
            </a:pPr>
            <a:r>
              <a:rPr lang="en-US" sz="1200" dirty="0"/>
              <a:t>Crash severity-related features, such as Overturned Vehicles and Serious Accident subtypes, show moderate importance. These features highlight the significance of crash severity in prolonging clearance </a:t>
            </a:r>
            <a:r>
              <a:rPr lang="en-US" sz="1200" dirty="0" err="1"/>
              <a:t>times.crashes</a:t>
            </a:r>
            <a:r>
              <a:rPr lang="en-US" sz="1200" dirty="0"/>
              <a:t>.</a:t>
            </a:r>
          </a:p>
          <a:p>
            <a:pPr marL="285750" indent="-285750">
              <a:buClr>
                <a:schemeClr val="accent1"/>
              </a:buClr>
              <a:buFont typeface="Arial" panose="020B0604020202020204" pitchFamily="34" charset="0"/>
              <a:buChar char="•"/>
            </a:pPr>
            <a:r>
              <a:rPr lang="en-US" sz="1200" dirty="0"/>
              <a:t>Finally, road class types and functional classes have relatively lower importance, implying that while roadway characteristics contribute to crash duration, they are less influential than traffic volume and crash-specific factors.</a:t>
            </a:r>
            <a:endParaRPr lang="en-IN" sz="1200" dirty="0"/>
          </a:p>
        </p:txBody>
      </p:sp>
      <p:pic>
        <p:nvPicPr>
          <p:cNvPr id="4" name="Picture 3">
            <a:extLst>
              <a:ext uri="{FF2B5EF4-FFF2-40B4-BE49-F238E27FC236}">
                <a16:creationId xmlns:a16="http://schemas.microsoft.com/office/drawing/2014/main" id="{697A4911-6175-D221-C6B6-D1DE8ED03805}"/>
              </a:ext>
            </a:extLst>
          </p:cNvPr>
          <p:cNvPicPr>
            <a:picLocks noChangeAspect="1"/>
          </p:cNvPicPr>
          <p:nvPr/>
        </p:nvPicPr>
        <p:blipFill>
          <a:blip r:embed="rId2"/>
          <a:stretch>
            <a:fillRect/>
          </a:stretch>
        </p:blipFill>
        <p:spPr>
          <a:xfrm>
            <a:off x="5746530" y="2151224"/>
            <a:ext cx="5968886" cy="3216935"/>
          </a:xfrm>
          <a:prstGeom prst="rect">
            <a:avLst/>
          </a:prstGeom>
        </p:spPr>
      </p:pic>
    </p:spTree>
    <p:extLst>
      <p:ext uri="{BB962C8B-B14F-4D97-AF65-F5344CB8AC3E}">
        <p14:creationId xmlns:p14="http://schemas.microsoft.com/office/powerpoint/2010/main" val="21024262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623AB-24D4-35C3-F301-EDF42495C98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475EFF-3B30-5C02-6439-116C56B9275B}"/>
              </a:ext>
            </a:extLst>
          </p:cNvPr>
          <p:cNvSpPr>
            <a:spLocks noGrp="1"/>
          </p:cNvSpPr>
          <p:nvPr>
            <p:ph idx="1"/>
          </p:nvPr>
        </p:nvSpPr>
        <p:spPr>
          <a:xfrm>
            <a:off x="1097280" y="1552903"/>
            <a:ext cx="7518575" cy="441435"/>
          </a:xfrm>
        </p:spPr>
        <p:txBody>
          <a:bodyPr>
            <a:normAutofit/>
          </a:bodyPr>
          <a:lstStyle/>
          <a:p>
            <a:r>
              <a:rPr lang="en-IN" dirty="0">
                <a:latin typeface="+mj-lt"/>
              </a:rPr>
              <a:t>Residual Plots:</a:t>
            </a:r>
          </a:p>
        </p:txBody>
      </p:sp>
      <p:pic>
        <p:nvPicPr>
          <p:cNvPr id="4" name="Picture 3">
            <a:extLst>
              <a:ext uri="{FF2B5EF4-FFF2-40B4-BE49-F238E27FC236}">
                <a16:creationId xmlns:a16="http://schemas.microsoft.com/office/drawing/2014/main" id="{D23D8CCF-1BE7-9E00-B776-66660A000DAD}"/>
              </a:ext>
            </a:extLst>
          </p:cNvPr>
          <p:cNvPicPr>
            <a:picLocks noChangeAspect="1"/>
          </p:cNvPicPr>
          <p:nvPr/>
        </p:nvPicPr>
        <p:blipFill>
          <a:blip r:embed="rId2"/>
          <a:stretch>
            <a:fillRect/>
          </a:stretch>
        </p:blipFill>
        <p:spPr>
          <a:xfrm>
            <a:off x="122595" y="1994339"/>
            <a:ext cx="6144198" cy="3927516"/>
          </a:xfrm>
          <a:prstGeom prst="rect">
            <a:avLst/>
          </a:prstGeom>
        </p:spPr>
      </p:pic>
      <p:pic>
        <p:nvPicPr>
          <p:cNvPr id="8" name="Picture 7">
            <a:extLst>
              <a:ext uri="{FF2B5EF4-FFF2-40B4-BE49-F238E27FC236}">
                <a16:creationId xmlns:a16="http://schemas.microsoft.com/office/drawing/2014/main" id="{DE074D72-B961-2390-6B28-8B726228BE8A}"/>
              </a:ext>
            </a:extLst>
          </p:cNvPr>
          <p:cNvPicPr>
            <a:picLocks noChangeAspect="1"/>
          </p:cNvPicPr>
          <p:nvPr/>
        </p:nvPicPr>
        <p:blipFill>
          <a:blip r:embed="rId3"/>
          <a:stretch>
            <a:fillRect/>
          </a:stretch>
        </p:blipFill>
        <p:spPr>
          <a:xfrm>
            <a:off x="6266793" y="2066103"/>
            <a:ext cx="5917933" cy="3783987"/>
          </a:xfrm>
          <a:prstGeom prst="rect">
            <a:avLst/>
          </a:prstGeom>
        </p:spPr>
      </p:pic>
    </p:spTree>
    <p:extLst>
      <p:ext uri="{BB962C8B-B14F-4D97-AF65-F5344CB8AC3E}">
        <p14:creationId xmlns:p14="http://schemas.microsoft.com/office/powerpoint/2010/main" val="39861598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64F4E-D983-E03D-5509-CE3969450150}"/>
              </a:ext>
            </a:extLst>
          </p:cNvPr>
          <p:cNvSpPr>
            <a:spLocks noGrp="1"/>
          </p:cNvSpPr>
          <p:nvPr>
            <p:ph type="title"/>
          </p:nvPr>
        </p:nvSpPr>
        <p:spPr/>
        <p:txBody>
          <a:bodyPr>
            <a:normAutofit/>
          </a:bodyPr>
          <a:lstStyle/>
          <a:p>
            <a:r>
              <a:rPr lang="en-IN" sz="2400" dirty="0"/>
              <a:t>Summary on Residual Plots:</a:t>
            </a:r>
          </a:p>
        </p:txBody>
      </p:sp>
      <p:sp>
        <p:nvSpPr>
          <p:cNvPr id="3" name="Content Placeholder 2">
            <a:extLst>
              <a:ext uri="{FF2B5EF4-FFF2-40B4-BE49-F238E27FC236}">
                <a16:creationId xmlns:a16="http://schemas.microsoft.com/office/drawing/2014/main" id="{17A0F208-2C10-9050-F43C-C11D8BA09C7B}"/>
              </a:ext>
            </a:extLst>
          </p:cNvPr>
          <p:cNvSpPr>
            <a:spLocks noGrp="1"/>
          </p:cNvSpPr>
          <p:nvPr>
            <p:ph idx="1"/>
          </p:nvPr>
        </p:nvSpPr>
        <p:spPr/>
        <p:txBody>
          <a:bodyPr>
            <a:normAutofit fontScale="92500" lnSpcReduction="20000"/>
          </a:bodyPr>
          <a:lstStyle/>
          <a:p>
            <a:r>
              <a:rPr lang="en-US" sz="1800" dirty="0">
                <a:latin typeface="Arial" panose="020B0604020202020204" pitchFamily="34" charset="0"/>
                <a:cs typeface="Arial" panose="020B0604020202020204" pitchFamily="34" charset="0"/>
              </a:rPr>
              <a:t>Linear Regression Residual Plot: Shows a wide spread of residuals across predicted values. The residuals are not evenly distributed around the zero line, indicating possible issues with the model's assumptions or fit.</a:t>
            </a:r>
          </a:p>
          <a:p>
            <a:r>
              <a:rPr lang="en-US" sz="1800" dirty="0">
                <a:latin typeface="Arial" panose="020B0604020202020204" pitchFamily="34" charset="0"/>
                <a:cs typeface="Arial" panose="020B0604020202020204" pitchFamily="34" charset="0"/>
              </a:rPr>
              <a:t>Random Forest Residual Plot: The spread of residuals reduces slightly compared to Linear Regression. Still shows a pattern, indicating the model may not fully capture the variance in crash durations.</a:t>
            </a:r>
          </a:p>
          <a:p>
            <a:r>
              <a:rPr lang="en-US" sz="1800" dirty="0">
                <a:latin typeface="Arial" panose="020B0604020202020204" pitchFamily="34" charset="0"/>
                <a:cs typeface="Arial" panose="020B0604020202020204" pitchFamily="34" charset="0"/>
              </a:rPr>
              <a:t>Gradient Boosting Regressor Residual Plot: The residuals show a more concentrated spread around the zero-line compared to previous models. A slight improvement in prediction accuracy is observed.</a:t>
            </a:r>
          </a:p>
          <a:p>
            <a:r>
              <a:rPr lang="en-US" sz="1800" dirty="0" err="1">
                <a:latin typeface="Arial" panose="020B0604020202020204" pitchFamily="34" charset="0"/>
                <a:cs typeface="Arial" panose="020B0604020202020204" pitchFamily="34" charset="0"/>
              </a:rPr>
              <a:t>XGBoost</a:t>
            </a:r>
            <a:r>
              <a:rPr lang="en-US" sz="1800" dirty="0">
                <a:latin typeface="Arial" panose="020B0604020202020204" pitchFamily="34" charset="0"/>
                <a:cs typeface="Arial" panose="020B0604020202020204" pitchFamily="34" charset="0"/>
              </a:rPr>
              <a:t> Residual Plot: Residuals are more balanced and centered around the zero line. Indicates that </a:t>
            </a:r>
            <a:r>
              <a:rPr lang="en-US" sz="1800" dirty="0" err="1">
                <a:latin typeface="Arial" panose="020B0604020202020204" pitchFamily="34" charset="0"/>
                <a:cs typeface="Arial" panose="020B0604020202020204" pitchFamily="34" charset="0"/>
              </a:rPr>
              <a:t>XGBoost</a:t>
            </a:r>
            <a:r>
              <a:rPr lang="en-US" sz="1800" dirty="0">
                <a:latin typeface="Arial" panose="020B0604020202020204" pitchFamily="34" charset="0"/>
                <a:cs typeface="Arial" panose="020B0604020202020204" pitchFamily="34" charset="0"/>
              </a:rPr>
              <a:t> provides the most accurate predictions among the tested models. </a:t>
            </a:r>
          </a:p>
          <a:p>
            <a:r>
              <a:rPr lang="en-US" sz="1800" dirty="0">
                <a:latin typeface="Arial" panose="020B0604020202020204" pitchFamily="34" charset="0"/>
                <a:cs typeface="Arial" panose="020B0604020202020204" pitchFamily="34" charset="0"/>
              </a:rPr>
              <a:t>Overall Observation: All models show residuals with a wide range, indicating further feature engineering or more complex models might be needed. </a:t>
            </a:r>
            <a:r>
              <a:rPr lang="en-US" sz="1800" dirty="0" err="1">
                <a:latin typeface="Arial" panose="020B0604020202020204" pitchFamily="34" charset="0"/>
                <a:cs typeface="Arial" panose="020B0604020202020204" pitchFamily="34" charset="0"/>
              </a:rPr>
              <a:t>XGBoost</a:t>
            </a:r>
            <a:r>
              <a:rPr lang="en-US" sz="1800" dirty="0">
                <a:latin typeface="Arial" panose="020B0604020202020204" pitchFamily="34" charset="0"/>
                <a:cs typeface="Arial" panose="020B0604020202020204" pitchFamily="34" charset="0"/>
              </a:rPr>
              <a:t> shows the best balance in residual distribution, suggesting it's the most effective model in this scenario.</a:t>
            </a:r>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384300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1E2D5-3BC8-397D-F756-EC47C712923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1979D3-C405-999F-2157-69DF9E4949D0}"/>
              </a:ext>
            </a:extLst>
          </p:cNvPr>
          <p:cNvSpPr>
            <a:spLocks noGrp="1"/>
          </p:cNvSpPr>
          <p:nvPr>
            <p:ph idx="1"/>
          </p:nvPr>
        </p:nvSpPr>
        <p:spPr>
          <a:xfrm>
            <a:off x="1097280" y="1552903"/>
            <a:ext cx="7518575" cy="441435"/>
          </a:xfrm>
        </p:spPr>
        <p:txBody>
          <a:bodyPr>
            <a:normAutofit fontScale="77500" lnSpcReduction="20000"/>
          </a:bodyPr>
          <a:lstStyle/>
          <a:p>
            <a:r>
              <a:rPr lang="en-US" dirty="0">
                <a:latin typeface="+mj-lt"/>
              </a:rPr>
              <a:t>Speed Ratio Distribution for non-crash time intervals vs. crash time intervals:</a:t>
            </a:r>
            <a:endParaRPr lang="en-IN" dirty="0">
              <a:latin typeface="+mj-lt"/>
            </a:endParaRPr>
          </a:p>
        </p:txBody>
      </p:sp>
      <p:sp>
        <p:nvSpPr>
          <p:cNvPr id="6" name="TextBox 5">
            <a:extLst>
              <a:ext uri="{FF2B5EF4-FFF2-40B4-BE49-F238E27FC236}">
                <a16:creationId xmlns:a16="http://schemas.microsoft.com/office/drawing/2014/main" id="{6DA123B3-9843-3B19-4D64-CD66C774F60B}"/>
              </a:ext>
            </a:extLst>
          </p:cNvPr>
          <p:cNvSpPr txBox="1"/>
          <p:nvPr/>
        </p:nvSpPr>
        <p:spPr>
          <a:xfrm>
            <a:off x="772510" y="1994338"/>
            <a:ext cx="4974020" cy="276999"/>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endParaRPr lang="en-IN" sz="1200" dirty="0"/>
          </a:p>
        </p:txBody>
      </p:sp>
      <p:sp>
        <p:nvSpPr>
          <p:cNvPr id="4" name="TextBox 3">
            <a:extLst>
              <a:ext uri="{FF2B5EF4-FFF2-40B4-BE49-F238E27FC236}">
                <a16:creationId xmlns:a16="http://schemas.microsoft.com/office/drawing/2014/main" id="{0AED83A2-F722-F413-A75E-6DEABD0A3982}"/>
              </a:ext>
            </a:extLst>
          </p:cNvPr>
          <p:cNvSpPr txBox="1"/>
          <p:nvPr/>
        </p:nvSpPr>
        <p:spPr>
          <a:xfrm>
            <a:off x="1489842" y="2372710"/>
            <a:ext cx="8781392" cy="3046988"/>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en-US" sz="1600" dirty="0"/>
              <a:t>Data Filtering: Filtered out segments with more than 75 crashes per year to focus on high-risk segments.</a:t>
            </a:r>
          </a:p>
          <a:p>
            <a:pPr marL="285750" indent="-285750">
              <a:buClr>
                <a:schemeClr val="accent1"/>
              </a:buClr>
              <a:buFont typeface="Arial" panose="020B0604020202020204" pitchFamily="34" charset="0"/>
              <a:buChar char="•"/>
            </a:pPr>
            <a:r>
              <a:rPr lang="en-US" sz="1600" dirty="0"/>
              <a:t>Time Interval Marking: Converted </a:t>
            </a:r>
            <a:r>
              <a:rPr lang="en-US" sz="1600" dirty="0" err="1"/>
              <a:t>measurement_tstamp</a:t>
            </a:r>
            <a:r>
              <a:rPr lang="en-US" sz="1600" dirty="0"/>
              <a:t> to datetime format and rounded to 5-minute intervals for both </a:t>
            </a:r>
            <a:r>
              <a:rPr lang="en-US" sz="1600" dirty="0" err="1"/>
              <a:t>high_crash_speeds</a:t>
            </a:r>
            <a:r>
              <a:rPr lang="en-US" sz="1600" dirty="0"/>
              <a:t> and </a:t>
            </a:r>
            <a:r>
              <a:rPr lang="en-US" sz="1600" dirty="0" err="1"/>
              <a:t>high_crash_events</a:t>
            </a:r>
            <a:r>
              <a:rPr lang="en-US" sz="1600" dirty="0"/>
              <a:t>. Marked time intervals as crash intervals for each segment by checking if the timestamps fall between crash start and end times.</a:t>
            </a:r>
          </a:p>
          <a:p>
            <a:pPr marL="285750" indent="-285750">
              <a:buClr>
                <a:schemeClr val="accent1"/>
              </a:buClr>
              <a:buFont typeface="Arial" panose="020B0604020202020204" pitchFamily="34" charset="0"/>
              <a:buChar char="•"/>
            </a:pPr>
            <a:r>
              <a:rPr lang="en-US" sz="1600" dirty="0"/>
              <a:t>Merging and Calculating Speed Ratio: Merged the </a:t>
            </a:r>
            <a:r>
              <a:rPr lang="en-US" sz="1600" dirty="0" err="1"/>
              <a:t>reference_speed</a:t>
            </a:r>
            <a:r>
              <a:rPr lang="en-US" sz="1600" dirty="0"/>
              <a:t> from </a:t>
            </a:r>
            <a:r>
              <a:rPr lang="en-US" sz="1600" dirty="0" err="1"/>
              <a:t>high_crash_events</a:t>
            </a:r>
            <a:r>
              <a:rPr lang="en-US" sz="1600" dirty="0"/>
              <a:t> into </a:t>
            </a:r>
            <a:r>
              <a:rPr lang="en-US" sz="1600" dirty="0" err="1"/>
              <a:t>high_crash_speeds</a:t>
            </a:r>
            <a:r>
              <a:rPr lang="en-US" sz="1600" dirty="0"/>
              <a:t>. Calculated the speed ratio as speed / </a:t>
            </a:r>
            <a:r>
              <a:rPr lang="en-US" sz="1600" dirty="0" err="1"/>
              <a:t>reference_speed</a:t>
            </a:r>
            <a:r>
              <a:rPr lang="en-US" sz="1600" dirty="0"/>
              <a:t>.</a:t>
            </a:r>
          </a:p>
          <a:p>
            <a:pPr marL="285750" indent="-285750">
              <a:buClr>
                <a:schemeClr val="accent1"/>
              </a:buClr>
              <a:buFont typeface="Arial" panose="020B0604020202020204" pitchFamily="34" charset="0"/>
              <a:buChar char="•"/>
            </a:pPr>
            <a:r>
              <a:rPr lang="en-IN" sz="1600" dirty="0"/>
              <a:t>Histogram Plots: </a:t>
            </a:r>
            <a:r>
              <a:rPr lang="en-US" sz="1600" dirty="0"/>
              <a:t>Plotted histograms of speed ratio distribution during crash intervals and non-crash intervals. Crash intervals showed a peak around a speed ratio of 1, indicating crashes occur near reference speeds. Non-crash intervals had a more varied speed ratio distribution with higher frequency in the 0.75 to 1.0 range.</a:t>
            </a:r>
            <a:endParaRPr lang="en-IN" sz="1600" dirty="0"/>
          </a:p>
        </p:txBody>
      </p:sp>
    </p:spTree>
    <p:extLst>
      <p:ext uri="{BB962C8B-B14F-4D97-AF65-F5344CB8AC3E}">
        <p14:creationId xmlns:p14="http://schemas.microsoft.com/office/powerpoint/2010/main" val="1819070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8512E-FAAC-F483-8260-5FB9C0E2935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EF6195-0761-5F89-CB36-B422B80F1431}"/>
              </a:ext>
            </a:extLst>
          </p:cNvPr>
          <p:cNvSpPr>
            <a:spLocks noGrp="1"/>
          </p:cNvSpPr>
          <p:nvPr>
            <p:ph idx="1"/>
          </p:nvPr>
        </p:nvSpPr>
        <p:spPr>
          <a:xfrm>
            <a:off x="1097280" y="1552903"/>
            <a:ext cx="7518575" cy="441435"/>
          </a:xfrm>
        </p:spPr>
        <p:txBody>
          <a:bodyPr>
            <a:normAutofit/>
          </a:bodyPr>
          <a:lstStyle/>
          <a:p>
            <a:r>
              <a:rPr lang="en-IN" dirty="0">
                <a:latin typeface="+mj-lt"/>
              </a:rPr>
              <a:t>Crash Interval vs Non-Crash Interval Plots:</a:t>
            </a:r>
          </a:p>
        </p:txBody>
      </p:sp>
      <p:pic>
        <p:nvPicPr>
          <p:cNvPr id="5" name="Picture 4">
            <a:extLst>
              <a:ext uri="{FF2B5EF4-FFF2-40B4-BE49-F238E27FC236}">
                <a16:creationId xmlns:a16="http://schemas.microsoft.com/office/drawing/2014/main" id="{7DE59993-AAF6-8035-0190-F1C510146E70}"/>
              </a:ext>
            </a:extLst>
          </p:cNvPr>
          <p:cNvPicPr>
            <a:picLocks noChangeAspect="1"/>
          </p:cNvPicPr>
          <p:nvPr/>
        </p:nvPicPr>
        <p:blipFill>
          <a:blip r:embed="rId2"/>
          <a:stretch>
            <a:fillRect/>
          </a:stretch>
        </p:blipFill>
        <p:spPr>
          <a:xfrm>
            <a:off x="3501799" y="1994338"/>
            <a:ext cx="5188401" cy="4410140"/>
          </a:xfrm>
          <a:prstGeom prst="rect">
            <a:avLst/>
          </a:prstGeom>
        </p:spPr>
      </p:pic>
    </p:spTree>
    <p:extLst>
      <p:ext uri="{BB962C8B-B14F-4D97-AF65-F5344CB8AC3E}">
        <p14:creationId xmlns:p14="http://schemas.microsoft.com/office/powerpoint/2010/main" val="33964752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4C58E-6045-2E69-D3DE-F62E199D1AC7}"/>
              </a:ext>
            </a:extLst>
          </p:cNvPr>
          <p:cNvSpPr>
            <a:spLocks noGrp="1"/>
          </p:cNvSpPr>
          <p:nvPr>
            <p:ph type="title"/>
          </p:nvPr>
        </p:nvSpPr>
        <p:spPr/>
        <p:txBody>
          <a:bodyPr>
            <a:normAutofit/>
          </a:bodyPr>
          <a:lstStyle/>
          <a:p>
            <a:r>
              <a:rPr lang="en-IN" sz="2400" dirty="0"/>
              <a:t>Summary on the plot:</a:t>
            </a:r>
          </a:p>
        </p:txBody>
      </p:sp>
      <p:sp>
        <p:nvSpPr>
          <p:cNvPr id="3" name="Content Placeholder 2">
            <a:extLst>
              <a:ext uri="{FF2B5EF4-FFF2-40B4-BE49-F238E27FC236}">
                <a16:creationId xmlns:a16="http://schemas.microsoft.com/office/drawing/2014/main" id="{DC854490-5581-8C34-5CB8-8592AB4150CD}"/>
              </a:ext>
            </a:extLst>
          </p:cNvPr>
          <p:cNvSpPr>
            <a:spLocks noGrp="1"/>
          </p:cNvSpPr>
          <p:nvPr>
            <p:ph sz="half" idx="1"/>
          </p:nvPr>
        </p:nvSpPr>
        <p:spPr/>
        <p:txBody>
          <a:bodyPr>
            <a:normAutofit fontScale="70000" lnSpcReduction="20000"/>
          </a:bodyPr>
          <a:lstStyle/>
          <a:p>
            <a:r>
              <a:rPr lang="en-US" dirty="0">
                <a:latin typeface="Arial" panose="020B0604020202020204" pitchFamily="34" charset="0"/>
                <a:cs typeface="Arial" panose="020B0604020202020204" pitchFamily="34" charset="0"/>
              </a:rPr>
              <a:t>Crash Intervals Distribution (Red Plot)</a:t>
            </a:r>
          </a:p>
          <a:p>
            <a:pPr>
              <a:buFont typeface="Arial" panose="020B0604020202020204" pitchFamily="34" charset="0"/>
              <a:buChar char="•"/>
            </a:pPr>
            <a:r>
              <a:rPr lang="en-US" dirty="0">
                <a:latin typeface="Arial" panose="020B0604020202020204" pitchFamily="34" charset="0"/>
                <a:cs typeface="Arial" panose="020B0604020202020204" pitchFamily="34" charset="0"/>
              </a:rPr>
              <a:t>The distribution of speed ratios during crash intervals shows a peak around 1.0, indicating that most crashes occur when vehicles are traveling near their reference speed (expected or average speed for that segment).</a:t>
            </a:r>
          </a:p>
          <a:p>
            <a:pPr>
              <a:buFont typeface="Arial" panose="020B0604020202020204" pitchFamily="34" charset="0"/>
              <a:buChar char="•"/>
            </a:pPr>
            <a:r>
              <a:rPr lang="en-US" dirty="0">
                <a:latin typeface="Arial" panose="020B0604020202020204" pitchFamily="34" charset="0"/>
                <a:cs typeface="Arial" panose="020B0604020202020204" pitchFamily="34" charset="0"/>
              </a:rPr>
              <a:t>There is a drop-off at higher speed ratios (above 1.25), suggesting that vehicles traveling significantly faster than the reference speed are less likely to be in crashes during the observed intervals.</a:t>
            </a:r>
          </a:p>
          <a:p>
            <a:pPr>
              <a:buFont typeface="Arial" panose="020B0604020202020204" pitchFamily="34" charset="0"/>
              <a:buChar char="•"/>
            </a:pPr>
            <a:r>
              <a:rPr lang="en-US" dirty="0">
                <a:latin typeface="Arial" panose="020B0604020202020204" pitchFamily="34" charset="0"/>
                <a:cs typeface="Arial" panose="020B0604020202020204" pitchFamily="34" charset="0"/>
              </a:rPr>
              <a:t>The logarithmic y-axis scale indicates that lower speed ratios (&lt; 0.75) also have notable crash occurrences, implying that vehicles traveling below the reference speed might still be prone to crashes, possibly due to road conditions or sudden deceleration.</a:t>
            </a:r>
          </a:p>
          <a:p>
            <a:endParaRPr lang="en-IN" dirty="0"/>
          </a:p>
        </p:txBody>
      </p:sp>
      <p:sp>
        <p:nvSpPr>
          <p:cNvPr id="4" name="Content Placeholder 3">
            <a:extLst>
              <a:ext uri="{FF2B5EF4-FFF2-40B4-BE49-F238E27FC236}">
                <a16:creationId xmlns:a16="http://schemas.microsoft.com/office/drawing/2014/main" id="{76B6ABF7-0397-4B4B-142D-51468F43405B}"/>
              </a:ext>
            </a:extLst>
          </p:cNvPr>
          <p:cNvSpPr>
            <a:spLocks noGrp="1"/>
          </p:cNvSpPr>
          <p:nvPr>
            <p:ph sz="half" idx="2"/>
          </p:nvPr>
        </p:nvSpPr>
        <p:spPr/>
        <p:txBody>
          <a:bodyPr>
            <a:normAutofit fontScale="70000" lnSpcReduction="20000"/>
          </a:bodyPr>
          <a:lstStyle/>
          <a:p>
            <a:r>
              <a:rPr lang="en-US" dirty="0">
                <a:latin typeface="Arial" panose="020B0604020202020204" pitchFamily="34" charset="0"/>
                <a:cs typeface="Arial" panose="020B0604020202020204" pitchFamily="34" charset="0"/>
              </a:rPr>
              <a:t>Non-Crash Intervals Distribution (Blue Plot)</a:t>
            </a:r>
          </a:p>
          <a:p>
            <a:pPr>
              <a:buFont typeface="Arial" panose="020B0604020202020204" pitchFamily="34" charset="0"/>
              <a:buChar char="•"/>
            </a:pPr>
            <a:r>
              <a:rPr lang="en-US" dirty="0">
                <a:latin typeface="Arial" panose="020B0604020202020204" pitchFamily="34" charset="0"/>
                <a:cs typeface="Arial" panose="020B0604020202020204" pitchFamily="34" charset="0"/>
              </a:rPr>
              <a:t>The distribution for non-crash intervals shows a more symmetrical pattern, with the highest frequency around a speed ratio of 0.75 to 1.0, indicating that normal traffic typically flows close to the reference speed.</a:t>
            </a:r>
          </a:p>
          <a:p>
            <a:pPr>
              <a:buFont typeface="Arial" panose="020B0604020202020204" pitchFamily="34" charset="0"/>
              <a:buChar char="•"/>
            </a:pPr>
            <a:r>
              <a:rPr lang="en-US" dirty="0">
                <a:latin typeface="Arial" panose="020B0604020202020204" pitchFamily="34" charset="0"/>
                <a:cs typeface="Arial" panose="020B0604020202020204" pitchFamily="34" charset="0"/>
              </a:rPr>
              <a:t>There is greater variability in speed ratios during non-crash intervals compared to crash intervals, with some vehicles traveling significantly faster (above 2.0) or slower (below 0.5) than the reference speed without resulting in crashes.</a:t>
            </a:r>
          </a:p>
          <a:p>
            <a:pPr>
              <a:buFont typeface="Arial" panose="020B0604020202020204" pitchFamily="34" charset="0"/>
              <a:buChar char="•"/>
            </a:pPr>
            <a:r>
              <a:rPr lang="en-US" dirty="0">
                <a:latin typeface="Arial" panose="020B0604020202020204" pitchFamily="34" charset="0"/>
                <a:cs typeface="Arial" panose="020B0604020202020204" pitchFamily="34" charset="0"/>
              </a:rPr>
              <a:t>The tail on the right side indicates that higher speed ratios (&gt; 1.5) are more commonly observed in non-crash intervals, suggesting that vehicles exceeding the reference speed are not necessarily at higher crash risk unless certain conditions apply.</a:t>
            </a:r>
          </a:p>
          <a:p>
            <a:endParaRPr lang="en-IN" dirty="0"/>
          </a:p>
        </p:txBody>
      </p:sp>
    </p:spTree>
    <p:extLst>
      <p:ext uri="{BB962C8B-B14F-4D97-AF65-F5344CB8AC3E}">
        <p14:creationId xmlns:p14="http://schemas.microsoft.com/office/powerpoint/2010/main" val="716423212"/>
      </p:ext>
    </p:extLst>
  </p:cSld>
  <p:clrMapOvr>
    <a:masterClrMapping/>
  </p:clrMapOvr>
</p:sld>
</file>

<file path=ppt/theme/theme1.xml><?xml version="1.0" encoding="utf-8"?>
<a:theme xmlns:a="http://schemas.openxmlformats.org/drawingml/2006/main" name="1_RetrospectVTI">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41">
    <a:dk1>
      <a:sysClr val="windowText" lastClr="000000"/>
    </a:dk1>
    <a:lt1>
      <a:sysClr val="window" lastClr="FFFFFF"/>
    </a:lt1>
    <a:dk2>
      <a:srgbClr val="39302A"/>
    </a:dk2>
    <a:lt2>
      <a:srgbClr val="E5DEDB"/>
    </a:lt2>
    <a:accent1>
      <a:srgbClr val="F36826"/>
    </a:accent1>
    <a:accent2>
      <a:srgbClr val="FB8E09"/>
    </a:accent2>
    <a:accent3>
      <a:srgbClr val="D48B32"/>
    </a:accent3>
    <a:accent4>
      <a:srgbClr val="E64823"/>
    </a:accent4>
    <a:accent5>
      <a:srgbClr val="FFCA08"/>
    </a:accent5>
    <a:accent6>
      <a:srgbClr val="AF695B"/>
    </a:accent6>
    <a:hlink>
      <a:srgbClr val="2998E3"/>
    </a:hlink>
    <a:folHlink>
      <a:srgbClr val="7F723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F5B1FD9-3BB6-4DA9-A089-3B68C2323D4F}">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1747A963-53E0-44AF-AF13-963FE676C6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38A3B04-B0F3-4C12-A722-52B5CF6D972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{E4A5F75E-13B0-4868-AD39-E6E97BAB8388}tf33845126_win32</Template>
  <TotalTime>147</TotalTime>
  <Words>2591</Words>
  <Application>Microsoft Office PowerPoint</Application>
  <PresentationFormat>Widescreen</PresentationFormat>
  <Paragraphs>128</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Bookman Old Style</vt:lpstr>
      <vt:lpstr>Calibri</vt:lpstr>
      <vt:lpstr>Franklin Gothic Book</vt:lpstr>
      <vt:lpstr>Google Sans</vt:lpstr>
      <vt:lpstr>1_RetrospectVTI</vt:lpstr>
      <vt:lpstr>Take Home Assignment-CATT Lab</vt:lpstr>
      <vt:lpstr>Distribution of crash duration </vt:lpstr>
      <vt:lpstr>Temporal Distribution of crash counts at the hourly, day of the week, and monthly levels</vt:lpstr>
      <vt:lpstr>Visualization to show the relationship between crash duration and the total number of vehicles involved in the crash</vt:lpstr>
      <vt:lpstr>Visualize the crash count based on the segment functional road class</vt:lpstr>
      <vt:lpstr>Pattern between the segments' daily VMT (vehicle mile traveled) and their total crash counts</vt:lpstr>
      <vt:lpstr>Linear Regression and a Random Forest model to estimate crash duration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 on Residual Plots:</vt:lpstr>
      <vt:lpstr>PowerPoint Presentation</vt:lpstr>
      <vt:lpstr>PowerPoint Presentation</vt:lpstr>
      <vt:lpstr>Summary on the plot: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CVC Vinay</dc:creator>
  <cp:lastModifiedBy>CVC Vinay</cp:lastModifiedBy>
  <cp:revision>4</cp:revision>
  <dcterms:created xsi:type="dcterms:W3CDTF">2025-01-04T23:50:27Z</dcterms:created>
  <dcterms:modified xsi:type="dcterms:W3CDTF">2025-01-05T08:38:04Z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